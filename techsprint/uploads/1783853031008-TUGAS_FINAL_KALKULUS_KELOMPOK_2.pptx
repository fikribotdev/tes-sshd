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charts/chart2.xml" ContentType="application/vnd.openxmlformats-officedocument.drawingml.chart+xml"/>
  <Override PartName="/ppt/notesSlides/notesSlide3.xml" ContentType="application/vnd.openxmlformats-officedocument.presentationml.notesSlide+xml"/>
  <Override PartName="/ppt/charts/chart3.xml" ContentType="application/vnd.openxmlformats-officedocument.drawingml.chart+xml"/>
  <Override PartName="/ppt/notesSlides/notesSlide4.xml" ContentType="application/vnd.openxmlformats-officedocument.presentationml.notesSlide+xml"/>
  <Override PartName="/ppt/charts/chart4.xml" ContentType="application/vnd.openxmlformats-officedocument.drawingml.chart+xml"/>
  <Override PartName="/ppt/notesSlides/notesSlide5.xml" ContentType="application/vnd.openxmlformats-officedocument.presentationml.notesSlide+xml"/>
  <Override PartName="/ppt/charts/chart5.xml" ContentType="application/vnd.openxmlformats-officedocument.drawingml.chart+xml"/>
  <Override PartName="/ppt/notesSlides/notesSlide6.xml" ContentType="application/vnd.openxmlformats-officedocument.presentationml.notesSlide+xml"/>
  <Override PartName="/ppt/charts/chart6.xml" ContentType="application/vnd.openxmlformats-officedocument.drawingml.chart+xml"/>
  <Override PartName="/ppt/notesSlides/notesSlide7.xml" ContentType="application/vnd.openxmlformats-officedocument.presentationml.notesSlide+xml"/>
  <Override PartName="/ppt/charts/chart7.xml" ContentType="application/vnd.openxmlformats-officedocument.drawingml.chart+xml"/>
  <Override PartName="/ppt/notesSlides/notesSlide8.xml" ContentType="application/vnd.openxmlformats-officedocument.presentationml.notesSlide+xml"/>
  <Override PartName="/ppt/charts/chart8.xml" ContentType="application/vnd.openxmlformats-officedocument.drawingml.chart+xml"/>
  <Override PartName="/ppt/notesSlides/notesSlide9.xml" ContentType="application/vnd.openxmlformats-officedocument.presentationml.notesSlide+xml"/>
  <Override PartName="/ppt/charts/chart9.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 = sin x</c:v>
                </c:pt>
              </c:strCache>
            </c:strRef>
          </c:tx>
          <c:spPr>
            <a:ln w="25400" cap="flat">
              <a:solidFill>
                <a:srgbClr val="4FB6D8"/>
              </a:solidFill>
              <a:prstDash val="solid"/>
              <a:round/>
            </a:ln>
            <a:effectLst/>
          </c:spPr>
          <c:marker>
            <c:symbol val="circle"/>
            <c:size val="6"/>
            <c:spPr>
              <a:solidFill>
                <a:srgbClr val="4FB6D8"/>
              </a:solidFill>
              <a:ln w="9525" cap="flat">
                <a:solidFill>
                  <a:srgbClr val="4FB6D8"/>
                </a:solidFill>
                <a:prstDash val="solid"/>
                <a:round/>
              </a:ln>
              <a:effectLst/>
            </c:spPr>
          </c:marker>
          <c:cat>
            <c:strRef>
              <c:f>Sheet1!$A$2:$A$38</c:f>
              <c:strCache>
                <c:ptCount val="37"/>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strCache>
            </c:strRef>
          </c:cat>
          <c:val>
            <c:numRef>
              <c:f>Sheet1!$B$2:$B$38</c:f>
              <c:numCache>
                <c:formatCode>General</c:formatCode>
                <c:ptCount val="37"/>
                <c:pt idx="0">
                  <c:v>0</c:v>
                </c:pt>
                <c:pt idx="1">
                  <c:v>0.17399999999999999</c:v>
                </c:pt>
                <c:pt idx="2">
                  <c:v>0.34200000000000003</c:v>
                </c:pt>
                <c:pt idx="3">
                  <c:v>0.5</c:v>
                </c:pt>
                <c:pt idx="4">
                  <c:v>0.64300000000000002</c:v>
                </c:pt>
                <c:pt idx="5">
                  <c:v>0.76600000000000001</c:v>
                </c:pt>
                <c:pt idx="6">
                  <c:v>0.86599999999999999</c:v>
                </c:pt>
                <c:pt idx="7">
                  <c:v>0.94</c:v>
                </c:pt>
                <c:pt idx="8">
                  <c:v>0.98499999999999999</c:v>
                </c:pt>
                <c:pt idx="9">
                  <c:v>1</c:v>
                </c:pt>
                <c:pt idx="10">
                  <c:v>0.98499999999999999</c:v>
                </c:pt>
                <c:pt idx="11">
                  <c:v>0.94</c:v>
                </c:pt>
                <c:pt idx="12">
                  <c:v>0.86599999999999999</c:v>
                </c:pt>
                <c:pt idx="13">
                  <c:v>0.76600000000000001</c:v>
                </c:pt>
                <c:pt idx="14">
                  <c:v>0.64300000000000002</c:v>
                </c:pt>
                <c:pt idx="15">
                  <c:v>0.5</c:v>
                </c:pt>
                <c:pt idx="16">
                  <c:v>0.34200000000000003</c:v>
                </c:pt>
                <c:pt idx="17">
                  <c:v>0.17399999999999999</c:v>
                </c:pt>
                <c:pt idx="18">
                  <c:v>0</c:v>
                </c:pt>
                <c:pt idx="19">
                  <c:v>-0.17399999999999999</c:v>
                </c:pt>
                <c:pt idx="20">
                  <c:v>-0.34200000000000003</c:v>
                </c:pt>
                <c:pt idx="21">
                  <c:v>-0.5</c:v>
                </c:pt>
                <c:pt idx="22">
                  <c:v>-0.64300000000000002</c:v>
                </c:pt>
                <c:pt idx="23">
                  <c:v>-0.76600000000000001</c:v>
                </c:pt>
                <c:pt idx="24">
                  <c:v>-0.86599999999999999</c:v>
                </c:pt>
                <c:pt idx="25">
                  <c:v>-0.94</c:v>
                </c:pt>
                <c:pt idx="26">
                  <c:v>-0.98499999999999999</c:v>
                </c:pt>
                <c:pt idx="27">
                  <c:v>-1</c:v>
                </c:pt>
                <c:pt idx="28">
                  <c:v>-0.98499999999999999</c:v>
                </c:pt>
                <c:pt idx="29">
                  <c:v>-0.94</c:v>
                </c:pt>
                <c:pt idx="30">
                  <c:v>-0.86599999999999999</c:v>
                </c:pt>
                <c:pt idx="31">
                  <c:v>-0.76600000000000001</c:v>
                </c:pt>
                <c:pt idx="32">
                  <c:v>-0.64300000000000002</c:v>
                </c:pt>
                <c:pt idx="33">
                  <c:v>-0.5</c:v>
                </c:pt>
                <c:pt idx="34">
                  <c:v>-0.34200000000000003</c:v>
                </c:pt>
                <c:pt idx="35">
                  <c:v>-0.17399999999999999</c:v>
                </c:pt>
                <c:pt idx="36">
                  <c:v>0</c:v>
                </c:pt>
              </c:numCache>
            </c:numRef>
          </c:val>
          <c:smooth val="1"/>
          <c:extLst>
            <c:ext xmlns:c16="http://schemas.microsoft.com/office/drawing/2014/chart" uri="{C3380CC4-5D6E-409C-BE32-E72D297353CC}">
              <c16:uniqueId val="{00000000-7916-4CCA-A444-0AE21B382FD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4"/>
          <c:min val="-1.4"/>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solidFill>
          <a:srgbClr val="21295C"/>
        </a:solidFill>
        <a:ln>
          <a:noFill/>
        </a:ln>
        <a:effectLst/>
      </c:spPr>
    </c:plotArea>
    <c:plotVisOnly val="1"/>
    <c:dispBlanksAs val="span"/>
    <c:showDLblsOverMax val="1"/>
  </c:chart>
  <c:spPr>
    <a:solidFill>
      <a:srgbClr val="21295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 = 2 sin x</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Sheet1!$A$2:$A$38</c:f>
              <c:strCache>
                <c:ptCount val="37"/>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strCache>
            </c:strRef>
          </c:cat>
          <c:val>
            <c:numRef>
              <c:f>Sheet1!$B$2:$B$38</c:f>
              <c:numCache>
                <c:formatCode>General</c:formatCode>
                <c:ptCount val="37"/>
                <c:pt idx="0">
                  <c:v>0</c:v>
                </c:pt>
                <c:pt idx="1">
                  <c:v>0.34699999999999998</c:v>
                </c:pt>
                <c:pt idx="2">
                  <c:v>0.68400000000000005</c:v>
                </c:pt>
                <c:pt idx="3">
                  <c:v>1</c:v>
                </c:pt>
                <c:pt idx="4">
                  <c:v>1.286</c:v>
                </c:pt>
                <c:pt idx="5">
                  <c:v>1.532</c:v>
                </c:pt>
                <c:pt idx="6">
                  <c:v>1.732</c:v>
                </c:pt>
                <c:pt idx="7">
                  <c:v>1.879</c:v>
                </c:pt>
                <c:pt idx="8">
                  <c:v>1.97</c:v>
                </c:pt>
                <c:pt idx="9">
                  <c:v>2</c:v>
                </c:pt>
                <c:pt idx="10">
                  <c:v>1.97</c:v>
                </c:pt>
                <c:pt idx="11">
                  <c:v>1.879</c:v>
                </c:pt>
                <c:pt idx="12">
                  <c:v>1.732</c:v>
                </c:pt>
                <c:pt idx="13">
                  <c:v>1.532</c:v>
                </c:pt>
                <c:pt idx="14">
                  <c:v>1.286</c:v>
                </c:pt>
                <c:pt idx="15">
                  <c:v>1</c:v>
                </c:pt>
                <c:pt idx="16">
                  <c:v>0.68400000000000005</c:v>
                </c:pt>
                <c:pt idx="17">
                  <c:v>0.34699999999999998</c:v>
                </c:pt>
                <c:pt idx="18">
                  <c:v>0</c:v>
                </c:pt>
                <c:pt idx="19">
                  <c:v>-0.34699999999999998</c:v>
                </c:pt>
                <c:pt idx="20">
                  <c:v>-0.68400000000000005</c:v>
                </c:pt>
                <c:pt idx="21">
                  <c:v>-1</c:v>
                </c:pt>
                <c:pt idx="22">
                  <c:v>-1.286</c:v>
                </c:pt>
                <c:pt idx="23">
                  <c:v>-1.532</c:v>
                </c:pt>
                <c:pt idx="24">
                  <c:v>-1.732</c:v>
                </c:pt>
                <c:pt idx="25">
                  <c:v>-1.879</c:v>
                </c:pt>
                <c:pt idx="26">
                  <c:v>-1.97</c:v>
                </c:pt>
                <c:pt idx="27">
                  <c:v>-2</c:v>
                </c:pt>
                <c:pt idx="28">
                  <c:v>-1.97</c:v>
                </c:pt>
                <c:pt idx="29">
                  <c:v>-1.879</c:v>
                </c:pt>
                <c:pt idx="30">
                  <c:v>-1.732</c:v>
                </c:pt>
                <c:pt idx="31">
                  <c:v>-1.532</c:v>
                </c:pt>
                <c:pt idx="32">
                  <c:v>-1.286</c:v>
                </c:pt>
                <c:pt idx="33">
                  <c:v>-1</c:v>
                </c:pt>
                <c:pt idx="34">
                  <c:v>-0.68400000000000005</c:v>
                </c:pt>
                <c:pt idx="35">
                  <c:v>-0.34699999999999998</c:v>
                </c:pt>
                <c:pt idx="36">
                  <c:v>0</c:v>
                </c:pt>
              </c:numCache>
            </c:numRef>
          </c:val>
          <c:smooth val="1"/>
          <c:extLst>
            <c:ext xmlns:c16="http://schemas.microsoft.com/office/drawing/2014/chart" uri="{C3380CC4-5D6E-409C-BE32-E72D297353CC}">
              <c16:uniqueId val="{00000000-9D65-4727-9142-D337F0C0C60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2"/>
        <c:crosses val="autoZero"/>
        <c:auto val="1"/>
        <c:lblAlgn val="ctr"/>
        <c:lblOffset val="100"/>
        <c:noMultiLvlLbl val="1"/>
      </c:catAx>
      <c:valAx>
        <c:axId val="2094734552"/>
        <c:scaling>
          <c:orientation val="minMax"/>
          <c:max val="2.5"/>
          <c:min val="-2.5"/>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 = -2 sin(2x)</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Sheet1!$A$2:$A$38</c:f>
              <c:strCache>
                <c:ptCount val="37"/>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strCache>
            </c:strRef>
          </c:cat>
          <c:val>
            <c:numRef>
              <c:f>Sheet1!$B$2:$B$38</c:f>
              <c:numCache>
                <c:formatCode>General</c:formatCode>
                <c:ptCount val="37"/>
                <c:pt idx="0">
                  <c:v>0</c:v>
                </c:pt>
                <c:pt idx="1">
                  <c:v>-0.34699999999999998</c:v>
                </c:pt>
                <c:pt idx="2">
                  <c:v>-0.68400000000000005</c:v>
                </c:pt>
                <c:pt idx="3">
                  <c:v>-1</c:v>
                </c:pt>
                <c:pt idx="4">
                  <c:v>-1.286</c:v>
                </c:pt>
                <c:pt idx="5">
                  <c:v>-1.532</c:v>
                </c:pt>
                <c:pt idx="6">
                  <c:v>-1.732</c:v>
                </c:pt>
                <c:pt idx="7">
                  <c:v>-1.879</c:v>
                </c:pt>
                <c:pt idx="8">
                  <c:v>-1.97</c:v>
                </c:pt>
                <c:pt idx="9">
                  <c:v>-2</c:v>
                </c:pt>
                <c:pt idx="10">
                  <c:v>-1.97</c:v>
                </c:pt>
                <c:pt idx="11">
                  <c:v>-1.879</c:v>
                </c:pt>
                <c:pt idx="12">
                  <c:v>-1.732</c:v>
                </c:pt>
                <c:pt idx="13">
                  <c:v>-1.532</c:v>
                </c:pt>
                <c:pt idx="14">
                  <c:v>-1.286</c:v>
                </c:pt>
                <c:pt idx="15">
                  <c:v>-1</c:v>
                </c:pt>
                <c:pt idx="16">
                  <c:v>-0.68400000000000005</c:v>
                </c:pt>
                <c:pt idx="17">
                  <c:v>-0.34699999999999998</c:v>
                </c:pt>
                <c:pt idx="18">
                  <c:v>0</c:v>
                </c:pt>
                <c:pt idx="19">
                  <c:v>0.34699999999999998</c:v>
                </c:pt>
                <c:pt idx="20">
                  <c:v>0.68400000000000005</c:v>
                </c:pt>
                <c:pt idx="21">
                  <c:v>1</c:v>
                </c:pt>
                <c:pt idx="22">
                  <c:v>1.286</c:v>
                </c:pt>
                <c:pt idx="23">
                  <c:v>1.532</c:v>
                </c:pt>
                <c:pt idx="24">
                  <c:v>1.732</c:v>
                </c:pt>
                <c:pt idx="25">
                  <c:v>1.879</c:v>
                </c:pt>
                <c:pt idx="26">
                  <c:v>1.97</c:v>
                </c:pt>
                <c:pt idx="27">
                  <c:v>2</c:v>
                </c:pt>
                <c:pt idx="28">
                  <c:v>1.97</c:v>
                </c:pt>
                <c:pt idx="29">
                  <c:v>1.879</c:v>
                </c:pt>
                <c:pt idx="30">
                  <c:v>1.732</c:v>
                </c:pt>
                <c:pt idx="31">
                  <c:v>1.532</c:v>
                </c:pt>
                <c:pt idx="32">
                  <c:v>1.286</c:v>
                </c:pt>
                <c:pt idx="33">
                  <c:v>1</c:v>
                </c:pt>
                <c:pt idx="34">
                  <c:v>0.68400000000000005</c:v>
                </c:pt>
                <c:pt idx="35">
                  <c:v>0.34699999999999998</c:v>
                </c:pt>
                <c:pt idx="36">
                  <c:v>0</c:v>
                </c:pt>
              </c:numCache>
            </c:numRef>
          </c:val>
          <c:smooth val="1"/>
          <c:extLst>
            <c:ext xmlns:c16="http://schemas.microsoft.com/office/drawing/2014/chart" uri="{C3380CC4-5D6E-409C-BE32-E72D297353CC}">
              <c16:uniqueId val="{00000000-1FC1-43CD-962B-7D1FB3454F9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2"/>
        <c:crosses val="autoZero"/>
        <c:auto val="1"/>
        <c:lblAlgn val="ctr"/>
        <c:lblOffset val="100"/>
        <c:noMultiLvlLbl val="1"/>
      </c:catAx>
      <c:valAx>
        <c:axId val="2094734552"/>
        <c:scaling>
          <c:orientation val="minMax"/>
          <c:max val="2.5"/>
          <c:min val="-2.5"/>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 = -2 sin(2x)</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Sheet1!$A$2:$A$74</c:f>
              <c:strCache>
                <c:ptCount val="7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pt idx="61">
                  <c:v>305</c:v>
                </c:pt>
                <c:pt idx="62">
                  <c:v>310</c:v>
                </c:pt>
                <c:pt idx="63">
                  <c:v>315</c:v>
                </c:pt>
                <c:pt idx="64">
                  <c:v>320</c:v>
                </c:pt>
                <c:pt idx="65">
                  <c:v>325</c:v>
                </c:pt>
                <c:pt idx="66">
                  <c:v>330</c:v>
                </c:pt>
                <c:pt idx="67">
                  <c:v>335</c:v>
                </c:pt>
                <c:pt idx="68">
                  <c:v>340</c:v>
                </c:pt>
                <c:pt idx="69">
                  <c:v>345</c:v>
                </c:pt>
                <c:pt idx="70">
                  <c:v>350</c:v>
                </c:pt>
                <c:pt idx="71">
                  <c:v>355</c:v>
                </c:pt>
                <c:pt idx="72">
                  <c:v>360</c:v>
                </c:pt>
              </c:strCache>
            </c:strRef>
          </c:cat>
          <c:val>
            <c:numRef>
              <c:f>Sheet1!$B$2:$B$74</c:f>
              <c:numCache>
                <c:formatCode>General</c:formatCode>
                <c:ptCount val="73"/>
                <c:pt idx="0">
                  <c:v>0</c:v>
                </c:pt>
                <c:pt idx="1">
                  <c:v>-0.34699999999999998</c:v>
                </c:pt>
                <c:pt idx="2">
                  <c:v>-0.68400000000000005</c:v>
                </c:pt>
                <c:pt idx="3">
                  <c:v>-1</c:v>
                </c:pt>
                <c:pt idx="4">
                  <c:v>-1.286</c:v>
                </c:pt>
                <c:pt idx="5">
                  <c:v>-1.532</c:v>
                </c:pt>
                <c:pt idx="6">
                  <c:v>-1.732</c:v>
                </c:pt>
                <c:pt idx="7">
                  <c:v>-1.879</c:v>
                </c:pt>
                <c:pt idx="8">
                  <c:v>-1.97</c:v>
                </c:pt>
                <c:pt idx="9">
                  <c:v>-2</c:v>
                </c:pt>
                <c:pt idx="10">
                  <c:v>-1.97</c:v>
                </c:pt>
                <c:pt idx="11">
                  <c:v>-1.879</c:v>
                </c:pt>
                <c:pt idx="12">
                  <c:v>-1.732</c:v>
                </c:pt>
                <c:pt idx="13">
                  <c:v>-1.532</c:v>
                </c:pt>
                <c:pt idx="14">
                  <c:v>-1.286</c:v>
                </c:pt>
                <c:pt idx="15">
                  <c:v>-1</c:v>
                </c:pt>
                <c:pt idx="16">
                  <c:v>-0.68400000000000005</c:v>
                </c:pt>
                <c:pt idx="17">
                  <c:v>-0.34699999999999998</c:v>
                </c:pt>
                <c:pt idx="18">
                  <c:v>0</c:v>
                </c:pt>
                <c:pt idx="19">
                  <c:v>0.34699999999999998</c:v>
                </c:pt>
                <c:pt idx="20">
                  <c:v>0.68400000000000005</c:v>
                </c:pt>
                <c:pt idx="21">
                  <c:v>1</c:v>
                </c:pt>
                <c:pt idx="22">
                  <c:v>1.286</c:v>
                </c:pt>
                <c:pt idx="23">
                  <c:v>1.532</c:v>
                </c:pt>
                <c:pt idx="24">
                  <c:v>1.732</c:v>
                </c:pt>
                <c:pt idx="25">
                  <c:v>1.879</c:v>
                </c:pt>
                <c:pt idx="26">
                  <c:v>1.97</c:v>
                </c:pt>
                <c:pt idx="27">
                  <c:v>2</c:v>
                </c:pt>
                <c:pt idx="28">
                  <c:v>1.97</c:v>
                </c:pt>
                <c:pt idx="29">
                  <c:v>1.879</c:v>
                </c:pt>
                <c:pt idx="30">
                  <c:v>1.732</c:v>
                </c:pt>
                <c:pt idx="31">
                  <c:v>1.532</c:v>
                </c:pt>
                <c:pt idx="32">
                  <c:v>1.286</c:v>
                </c:pt>
                <c:pt idx="33">
                  <c:v>1</c:v>
                </c:pt>
                <c:pt idx="34">
                  <c:v>0.68400000000000005</c:v>
                </c:pt>
                <c:pt idx="35">
                  <c:v>0.34699999999999998</c:v>
                </c:pt>
                <c:pt idx="36">
                  <c:v>0</c:v>
                </c:pt>
                <c:pt idx="37">
                  <c:v>-0.34699999999999998</c:v>
                </c:pt>
                <c:pt idx="38">
                  <c:v>-0.68400000000000005</c:v>
                </c:pt>
                <c:pt idx="39">
                  <c:v>-1</c:v>
                </c:pt>
                <c:pt idx="40">
                  <c:v>-1.286</c:v>
                </c:pt>
                <c:pt idx="41">
                  <c:v>-1.532</c:v>
                </c:pt>
                <c:pt idx="42">
                  <c:v>-1.732</c:v>
                </c:pt>
                <c:pt idx="43">
                  <c:v>-1.879</c:v>
                </c:pt>
                <c:pt idx="44">
                  <c:v>-1.97</c:v>
                </c:pt>
                <c:pt idx="45">
                  <c:v>-2</c:v>
                </c:pt>
                <c:pt idx="46">
                  <c:v>-1.97</c:v>
                </c:pt>
                <c:pt idx="47">
                  <c:v>-1.879</c:v>
                </c:pt>
                <c:pt idx="48">
                  <c:v>-1.732</c:v>
                </c:pt>
                <c:pt idx="49">
                  <c:v>-1.532</c:v>
                </c:pt>
                <c:pt idx="50">
                  <c:v>-1.286</c:v>
                </c:pt>
                <c:pt idx="51">
                  <c:v>-1</c:v>
                </c:pt>
                <c:pt idx="52">
                  <c:v>-0.68400000000000005</c:v>
                </c:pt>
                <c:pt idx="53">
                  <c:v>-0.34699999999999998</c:v>
                </c:pt>
                <c:pt idx="54">
                  <c:v>0</c:v>
                </c:pt>
                <c:pt idx="55">
                  <c:v>0.34699999999999998</c:v>
                </c:pt>
                <c:pt idx="56">
                  <c:v>0.68400000000000005</c:v>
                </c:pt>
                <c:pt idx="57">
                  <c:v>1</c:v>
                </c:pt>
                <c:pt idx="58">
                  <c:v>1.286</c:v>
                </c:pt>
                <c:pt idx="59">
                  <c:v>1.532</c:v>
                </c:pt>
                <c:pt idx="60">
                  <c:v>1.732</c:v>
                </c:pt>
                <c:pt idx="61">
                  <c:v>1.879</c:v>
                </c:pt>
                <c:pt idx="62">
                  <c:v>1.97</c:v>
                </c:pt>
                <c:pt idx="63">
                  <c:v>2</c:v>
                </c:pt>
                <c:pt idx="64">
                  <c:v>1.97</c:v>
                </c:pt>
                <c:pt idx="65">
                  <c:v>1.879</c:v>
                </c:pt>
                <c:pt idx="66">
                  <c:v>1.732</c:v>
                </c:pt>
                <c:pt idx="67">
                  <c:v>1.532</c:v>
                </c:pt>
                <c:pt idx="68">
                  <c:v>1.286</c:v>
                </c:pt>
                <c:pt idx="69">
                  <c:v>1</c:v>
                </c:pt>
                <c:pt idx="70">
                  <c:v>0.68400000000000005</c:v>
                </c:pt>
                <c:pt idx="71">
                  <c:v>0.34699999999999998</c:v>
                </c:pt>
                <c:pt idx="72">
                  <c:v>0</c:v>
                </c:pt>
              </c:numCache>
            </c:numRef>
          </c:val>
          <c:smooth val="1"/>
          <c:extLst>
            <c:ext xmlns:c16="http://schemas.microsoft.com/office/drawing/2014/chart" uri="{C3380CC4-5D6E-409C-BE32-E72D297353CC}">
              <c16:uniqueId val="{00000000-5F5F-48E7-8C08-392507C5B48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2"/>
        <c:crosses val="autoZero"/>
        <c:auto val="1"/>
        <c:lblAlgn val="ctr"/>
        <c:lblOffset val="100"/>
        <c:noMultiLvlLbl val="1"/>
      </c:catAx>
      <c:valAx>
        <c:axId val="2094734552"/>
        <c:scaling>
          <c:orientation val="minMax"/>
          <c:max val="2.5"/>
          <c:min val="-2.5"/>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 = -2 sin(2x)</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Sheet1!$A$2:$A$74</c:f>
              <c:strCache>
                <c:ptCount val="7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pt idx="61">
                  <c:v>305</c:v>
                </c:pt>
                <c:pt idx="62">
                  <c:v>310</c:v>
                </c:pt>
                <c:pt idx="63">
                  <c:v>315</c:v>
                </c:pt>
                <c:pt idx="64">
                  <c:v>320</c:v>
                </c:pt>
                <c:pt idx="65">
                  <c:v>325</c:v>
                </c:pt>
                <c:pt idx="66">
                  <c:v>330</c:v>
                </c:pt>
                <c:pt idx="67">
                  <c:v>335</c:v>
                </c:pt>
                <c:pt idx="68">
                  <c:v>340</c:v>
                </c:pt>
                <c:pt idx="69">
                  <c:v>345</c:v>
                </c:pt>
                <c:pt idx="70">
                  <c:v>350</c:v>
                </c:pt>
                <c:pt idx="71">
                  <c:v>355</c:v>
                </c:pt>
                <c:pt idx="72">
                  <c:v>360</c:v>
                </c:pt>
              </c:strCache>
            </c:strRef>
          </c:cat>
          <c:val>
            <c:numRef>
              <c:f>Sheet1!$B$2:$B$74</c:f>
              <c:numCache>
                <c:formatCode>General</c:formatCode>
                <c:ptCount val="73"/>
                <c:pt idx="0">
                  <c:v>0</c:v>
                </c:pt>
                <c:pt idx="1">
                  <c:v>-0.34699999999999998</c:v>
                </c:pt>
                <c:pt idx="2">
                  <c:v>-0.68400000000000005</c:v>
                </c:pt>
                <c:pt idx="3">
                  <c:v>-1</c:v>
                </c:pt>
                <c:pt idx="4">
                  <c:v>-1.286</c:v>
                </c:pt>
                <c:pt idx="5">
                  <c:v>-1.532</c:v>
                </c:pt>
                <c:pt idx="6">
                  <c:v>-1.732</c:v>
                </c:pt>
                <c:pt idx="7">
                  <c:v>-1.879</c:v>
                </c:pt>
                <c:pt idx="8">
                  <c:v>-1.97</c:v>
                </c:pt>
                <c:pt idx="9">
                  <c:v>-2</c:v>
                </c:pt>
                <c:pt idx="10">
                  <c:v>-1.97</c:v>
                </c:pt>
                <c:pt idx="11">
                  <c:v>-1.879</c:v>
                </c:pt>
                <c:pt idx="12">
                  <c:v>-1.732</c:v>
                </c:pt>
                <c:pt idx="13">
                  <c:v>-1.532</c:v>
                </c:pt>
                <c:pt idx="14">
                  <c:v>-1.286</c:v>
                </c:pt>
                <c:pt idx="15">
                  <c:v>-1</c:v>
                </c:pt>
                <c:pt idx="16">
                  <c:v>-0.68400000000000005</c:v>
                </c:pt>
                <c:pt idx="17">
                  <c:v>-0.34699999999999998</c:v>
                </c:pt>
                <c:pt idx="18">
                  <c:v>0</c:v>
                </c:pt>
                <c:pt idx="19">
                  <c:v>0.34699999999999998</c:v>
                </c:pt>
                <c:pt idx="20">
                  <c:v>0.68400000000000005</c:v>
                </c:pt>
                <c:pt idx="21">
                  <c:v>1</c:v>
                </c:pt>
                <c:pt idx="22">
                  <c:v>1.286</c:v>
                </c:pt>
                <c:pt idx="23">
                  <c:v>1.532</c:v>
                </c:pt>
                <c:pt idx="24">
                  <c:v>1.732</c:v>
                </c:pt>
                <c:pt idx="25">
                  <c:v>1.879</c:v>
                </c:pt>
                <c:pt idx="26">
                  <c:v>1.97</c:v>
                </c:pt>
                <c:pt idx="27">
                  <c:v>2</c:v>
                </c:pt>
                <c:pt idx="28">
                  <c:v>1.97</c:v>
                </c:pt>
                <c:pt idx="29">
                  <c:v>1.879</c:v>
                </c:pt>
                <c:pt idx="30">
                  <c:v>1.732</c:v>
                </c:pt>
                <c:pt idx="31">
                  <c:v>1.532</c:v>
                </c:pt>
                <c:pt idx="32">
                  <c:v>1.286</c:v>
                </c:pt>
                <c:pt idx="33">
                  <c:v>1</c:v>
                </c:pt>
                <c:pt idx="34">
                  <c:v>0.68400000000000005</c:v>
                </c:pt>
                <c:pt idx="35">
                  <c:v>0.34699999999999998</c:v>
                </c:pt>
                <c:pt idx="36">
                  <c:v>0</c:v>
                </c:pt>
                <c:pt idx="37">
                  <c:v>-0.34699999999999998</c:v>
                </c:pt>
                <c:pt idx="38">
                  <c:v>-0.68400000000000005</c:v>
                </c:pt>
                <c:pt idx="39">
                  <c:v>-1</c:v>
                </c:pt>
                <c:pt idx="40">
                  <c:v>-1.286</c:v>
                </c:pt>
                <c:pt idx="41">
                  <c:v>-1.532</c:v>
                </c:pt>
                <c:pt idx="42">
                  <c:v>-1.732</c:v>
                </c:pt>
                <c:pt idx="43">
                  <c:v>-1.879</c:v>
                </c:pt>
                <c:pt idx="44">
                  <c:v>-1.97</c:v>
                </c:pt>
                <c:pt idx="45">
                  <c:v>-2</c:v>
                </c:pt>
                <c:pt idx="46">
                  <c:v>-1.97</c:v>
                </c:pt>
                <c:pt idx="47">
                  <c:v>-1.879</c:v>
                </c:pt>
                <c:pt idx="48">
                  <c:v>-1.732</c:v>
                </c:pt>
                <c:pt idx="49">
                  <c:v>-1.532</c:v>
                </c:pt>
                <c:pt idx="50">
                  <c:v>-1.286</c:v>
                </c:pt>
                <c:pt idx="51">
                  <c:v>-1</c:v>
                </c:pt>
                <c:pt idx="52">
                  <c:v>-0.68400000000000005</c:v>
                </c:pt>
                <c:pt idx="53">
                  <c:v>-0.34699999999999998</c:v>
                </c:pt>
                <c:pt idx="54">
                  <c:v>0</c:v>
                </c:pt>
                <c:pt idx="55">
                  <c:v>0.34699999999999998</c:v>
                </c:pt>
                <c:pt idx="56">
                  <c:v>0.68400000000000005</c:v>
                </c:pt>
                <c:pt idx="57">
                  <c:v>1</c:v>
                </c:pt>
                <c:pt idx="58">
                  <c:v>1.286</c:v>
                </c:pt>
                <c:pt idx="59">
                  <c:v>1.532</c:v>
                </c:pt>
                <c:pt idx="60">
                  <c:v>1.732</c:v>
                </c:pt>
                <c:pt idx="61">
                  <c:v>1.879</c:v>
                </c:pt>
                <c:pt idx="62">
                  <c:v>1.97</c:v>
                </c:pt>
                <c:pt idx="63">
                  <c:v>2</c:v>
                </c:pt>
                <c:pt idx="64">
                  <c:v>1.97</c:v>
                </c:pt>
                <c:pt idx="65">
                  <c:v>1.879</c:v>
                </c:pt>
                <c:pt idx="66">
                  <c:v>1.732</c:v>
                </c:pt>
                <c:pt idx="67">
                  <c:v>1.532</c:v>
                </c:pt>
                <c:pt idx="68">
                  <c:v>1.286</c:v>
                </c:pt>
                <c:pt idx="69">
                  <c:v>1</c:v>
                </c:pt>
                <c:pt idx="70">
                  <c:v>0.68400000000000005</c:v>
                </c:pt>
                <c:pt idx="71">
                  <c:v>0.34699999999999998</c:v>
                </c:pt>
                <c:pt idx="72">
                  <c:v>0</c:v>
                </c:pt>
              </c:numCache>
            </c:numRef>
          </c:val>
          <c:smooth val="1"/>
          <c:extLst>
            <c:ext xmlns:c16="http://schemas.microsoft.com/office/drawing/2014/chart" uri="{C3380CC4-5D6E-409C-BE32-E72D297353CC}">
              <c16:uniqueId val="{00000000-C832-4070-84FC-96860B165E0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2"/>
        <c:crosses val="autoZero"/>
        <c:auto val="1"/>
        <c:lblAlgn val="ctr"/>
        <c:lblOffset val="100"/>
        <c:noMultiLvlLbl val="1"/>
      </c:catAx>
      <c:valAx>
        <c:axId val="2094734552"/>
        <c:scaling>
          <c:orientation val="minMax"/>
          <c:max val="2.5"/>
          <c:min val="-2.5"/>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 = -2 sin(2x+60)</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Sheet1!$A$2:$A$74</c:f>
              <c:strCache>
                <c:ptCount val="7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pt idx="61">
                  <c:v>305</c:v>
                </c:pt>
                <c:pt idx="62">
                  <c:v>310</c:v>
                </c:pt>
                <c:pt idx="63">
                  <c:v>315</c:v>
                </c:pt>
                <c:pt idx="64">
                  <c:v>320</c:v>
                </c:pt>
                <c:pt idx="65">
                  <c:v>325</c:v>
                </c:pt>
                <c:pt idx="66">
                  <c:v>330</c:v>
                </c:pt>
                <c:pt idx="67">
                  <c:v>335</c:v>
                </c:pt>
                <c:pt idx="68">
                  <c:v>340</c:v>
                </c:pt>
                <c:pt idx="69">
                  <c:v>345</c:v>
                </c:pt>
                <c:pt idx="70">
                  <c:v>350</c:v>
                </c:pt>
                <c:pt idx="71">
                  <c:v>355</c:v>
                </c:pt>
                <c:pt idx="72">
                  <c:v>360</c:v>
                </c:pt>
              </c:strCache>
            </c:strRef>
          </c:cat>
          <c:val>
            <c:numRef>
              <c:f>Sheet1!$B$2:$B$74</c:f>
              <c:numCache>
                <c:formatCode>General</c:formatCode>
                <c:ptCount val="73"/>
                <c:pt idx="0">
                  <c:v>-1.732</c:v>
                </c:pt>
                <c:pt idx="1">
                  <c:v>-1.879</c:v>
                </c:pt>
                <c:pt idx="2">
                  <c:v>-1.97</c:v>
                </c:pt>
                <c:pt idx="3">
                  <c:v>-2</c:v>
                </c:pt>
                <c:pt idx="4">
                  <c:v>-1.97</c:v>
                </c:pt>
                <c:pt idx="5">
                  <c:v>-1.879</c:v>
                </c:pt>
                <c:pt idx="6">
                  <c:v>-1.732</c:v>
                </c:pt>
                <c:pt idx="7">
                  <c:v>-1.532</c:v>
                </c:pt>
                <c:pt idx="8">
                  <c:v>-1.286</c:v>
                </c:pt>
                <c:pt idx="9">
                  <c:v>-1</c:v>
                </c:pt>
                <c:pt idx="10">
                  <c:v>-0.68400000000000005</c:v>
                </c:pt>
                <c:pt idx="11">
                  <c:v>-0.34699999999999998</c:v>
                </c:pt>
                <c:pt idx="12">
                  <c:v>0</c:v>
                </c:pt>
                <c:pt idx="13">
                  <c:v>0.34699999999999998</c:v>
                </c:pt>
                <c:pt idx="14">
                  <c:v>0.68400000000000005</c:v>
                </c:pt>
                <c:pt idx="15">
                  <c:v>1</c:v>
                </c:pt>
                <c:pt idx="16">
                  <c:v>1.286</c:v>
                </c:pt>
                <c:pt idx="17">
                  <c:v>1.532</c:v>
                </c:pt>
                <c:pt idx="18">
                  <c:v>1.732</c:v>
                </c:pt>
                <c:pt idx="19">
                  <c:v>1.879</c:v>
                </c:pt>
                <c:pt idx="20">
                  <c:v>1.97</c:v>
                </c:pt>
                <c:pt idx="21">
                  <c:v>2</c:v>
                </c:pt>
                <c:pt idx="22">
                  <c:v>1.97</c:v>
                </c:pt>
                <c:pt idx="23">
                  <c:v>1.879</c:v>
                </c:pt>
                <c:pt idx="24">
                  <c:v>1.732</c:v>
                </c:pt>
                <c:pt idx="25">
                  <c:v>1.532</c:v>
                </c:pt>
                <c:pt idx="26">
                  <c:v>1.286</c:v>
                </c:pt>
                <c:pt idx="27">
                  <c:v>1</c:v>
                </c:pt>
                <c:pt idx="28">
                  <c:v>0.68400000000000005</c:v>
                </c:pt>
                <c:pt idx="29">
                  <c:v>0.34699999999999998</c:v>
                </c:pt>
                <c:pt idx="30">
                  <c:v>0</c:v>
                </c:pt>
                <c:pt idx="31">
                  <c:v>-0.34699999999999998</c:v>
                </c:pt>
                <c:pt idx="32">
                  <c:v>-0.68400000000000005</c:v>
                </c:pt>
                <c:pt idx="33">
                  <c:v>-1</c:v>
                </c:pt>
                <c:pt idx="34">
                  <c:v>-1.286</c:v>
                </c:pt>
                <c:pt idx="35">
                  <c:v>-1.532</c:v>
                </c:pt>
                <c:pt idx="36">
                  <c:v>-1.732</c:v>
                </c:pt>
                <c:pt idx="37">
                  <c:v>-1.879</c:v>
                </c:pt>
                <c:pt idx="38">
                  <c:v>-1.97</c:v>
                </c:pt>
                <c:pt idx="39">
                  <c:v>-2</c:v>
                </c:pt>
                <c:pt idx="40">
                  <c:v>-1.97</c:v>
                </c:pt>
                <c:pt idx="41">
                  <c:v>-1.879</c:v>
                </c:pt>
                <c:pt idx="42">
                  <c:v>-1.732</c:v>
                </c:pt>
                <c:pt idx="43">
                  <c:v>-1.532</c:v>
                </c:pt>
                <c:pt idx="44">
                  <c:v>-1.286</c:v>
                </c:pt>
                <c:pt idx="45">
                  <c:v>-1</c:v>
                </c:pt>
                <c:pt idx="46">
                  <c:v>-0.68400000000000005</c:v>
                </c:pt>
                <c:pt idx="47">
                  <c:v>-0.34699999999999998</c:v>
                </c:pt>
                <c:pt idx="48">
                  <c:v>0</c:v>
                </c:pt>
                <c:pt idx="49">
                  <c:v>0.34699999999999998</c:v>
                </c:pt>
                <c:pt idx="50">
                  <c:v>0.68400000000000005</c:v>
                </c:pt>
                <c:pt idx="51">
                  <c:v>1</c:v>
                </c:pt>
                <c:pt idx="52">
                  <c:v>1.286</c:v>
                </c:pt>
                <c:pt idx="53">
                  <c:v>1.532</c:v>
                </c:pt>
                <c:pt idx="54">
                  <c:v>1.732</c:v>
                </c:pt>
                <c:pt idx="55">
                  <c:v>1.879</c:v>
                </c:pt>
                <c:pt idx="56">
                  <c:v>1.97</c:v>
                </c:pt>
                <c:pt idx="57">
                  <c:v>2</c:v>
                </c:pt>
                <c:pt idx="58">
                  <c:v>1.97</c:v>
                </c:pt>
                <c:pt idx="59">
                  <c:v>1.879</c:v>
                </c:pt>
                <c:pt idx="60">
                  <c:v>1.732</c:v>
                </c:pt>
                <c:pt idx="61">
                  <c:v>1.532</c:v>
                </c:pt>
                <c:pt idx="62">
                  <c:v>1.286</c:v>
                </c:pt>
                <c:pt idx="63">
                  <c:v>1</c:v>
                </c:pt>
                <c:pt idx="64">
                  <c:v>0.68400000000000005</c:v>
                </c:pt>
                <c:pt idx="65">
                  <c:v>0.34699999999999998</c:v>
                </c:pt>
                <c:pt idx="66">
                  <c:v>0</c:v>
                </c:pt>
                <c:pt idx="67">
                  <c:v>-0.34699999999999998</c:v>
                </c:pt>
                <c:pt idx="68">
                  <c:v>-0.68400000000000005</c:v>
                </c:pt>
                <c:pt idx="69">
                  <c:v>-1</c:v>
                </c:pt>
                <c:pt idx="70">
                  <c:v>-1.286</c:v>
                </c:pt>
                <c:pt idx="71">
                  <c:v>-1.532</c:v>
                </c:pt>
                <c:pt idx="72">
                  <c:v>-1.732</c:v>
                </c:pt>
              </c:numCache>
            </c:numRef>
          </c:val>
          <c:smooth val="1"/>
          <c:extLst>
            <c:ext xmlns:c16="http://schemas.microsoft.com/office/drawing/2014/chart" uri="{C3380CC4-5D6E-409C-BE32-E72D297353CC}">
              <c16:uniqueId val="{00000000-13AA-457C-AE33-1712976C344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2"/>
        <c:crosses val="autoZero"/>
        <c:auto val="1"/>
        <c:lblAlgn val="ctr"/>
        <c:lblOffset val="100"/>
        <c:noMultiLvlLbl val="1"/>
      </c:catAx>
      <c:valAx>
        <c:axId val="2094734552"/>
        <c:scaling>
          <c:orientation val="minMax"/>
          <c:max val="2.5"/>
          <c:min val="-2.5"/>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 = -2 sin(2x+60)</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Sheet1!$A$2:$A$74</c:f>
              <c:strCache>
                <c:ptCount val="7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pt idx="61">
                  <c:v>305</c:v>
                </c:pt>
                <c:pt idx="62">
                  <c:v>310</c:v>
                </c:pt>
                <c:pt idx="63">
                  <c:v>315</c:v>
                </c:pt>
                <c:pt idx="64">
                  <c:v>320</c:v>
                </c:pt>
                <c:pt idx="65">
                  <c:v>325</c:v>
                </c:pt>
                <c:pt idx="66">
                  <c:v>330</c:v>
                </c:pt>
                <c:pt idx="67">
                  <c:v>335</c:v>
                </c:pt>
                <c:pt idx="68">
                  <c:v>340</c:v>
                </c:pt>
                <c:pt idx="69">
                  <c:v>345</c:v>
                </c:pt>
                <c:pt idx="70">
                  <c:v>350</c:v>
                </c:pt>
                <c:pt idx="71">
                  <c:v>355</c:v>
                </c:pt>
                <c:pt idx="72">
                  <c:v>360</c:v>
                </c:pt>
              </c:strCache>
            </c:strRef>
          </c:cat>
          <c:val>
            <c:numRef>
              <c:f>Sheet1!$B$2:$B$74</c:f>
              <c:numCache>
                <c:formatCode>General</c:formatCode>
                <c:ptCount val="73"/>
                <c:pt idx="0">
                  <c:v>-1.732</c:v>
                </c:pt>
                <c:pt idx="1">
                  <c:v>-1.879</c:v>
                </c:pt>
                <c:pt idx="2">
                  <c:v>-1.97</c:v>
                </c:pt>
                <c:pt idx="3">
                  <c:v>-2</c:v>
                </c:pt>
                <c:pt idx="4">
                  <c:v>-1.97</c:v>
                </c:pt>
                <c:pt idx="5">
                  <c:v>-1.879</c:v>
                </c:pt>
                <c:pt idx="6">
                  <c:v>-1.732</c:v>
                </c:pt>
                <c:pt idx="7">
                  <c:v>-1.532</c:v>
                </c:pt>
                <c:pt idx="8">
                  <c:v>-1.286</c:v>
                </c:pt>
                <c:pt idx="9">
                  <c:v>-1</c:v>
                </c:pt>
                <c:pt idx="10">
                  <c:v>-0.68400000000000005</c:v>
                </c:pt>
                <c:pt idx="11">
                  <c:v>-0.34699999999999998</c:v>
                </c:pt>
                <c:pt idx="12">
                  <c:v>0</c:v>
                </c:pt>
                <c:pt idx="13">
                  <c:v>0.34699999999999998</c:v>
                </c:pt>
                <c:pt idx="14">
                  <c:v>0.68400000000000005</c:v>
                </c:pt>
                <c:pt idx="15">
                  <c:v>1</c:v>
                </c:pt>
                <c:pt idx="16">
                  <c:v>1.286</c:v>
                </c:pt>
                <c:pt idx="17">
                  <c:v>1.532</c:v>
                </c:pt>
                <c:pt idx="18">
                  <c:v>1.732</c:v>
                </c:pt>
                <c:pt idx="19">
                  <c:v>1.879</c:v>
                </c:pt>
                <c:pt idx="20">
                  <c:v>1.97</c:v>
                </c:pt>
                <c:pt idx="21">
                  <c:v>2</c:v>
                </c:pt>
                <c:pt idx="22">
                  <c:v>1.97</c:v>
                </c:pt>
                <c:pt idx="23">
                  <c:v>1.879</c:v>
                </c:pt>
                <c:pt idx="24">
                  <c:v>1.732</c:v>
                </c:pt>
                <c:pt idx="25">
                  <c:v>1.532</c:v>
                </c:pt>
                <c:pt idx="26">
                  <c:v>1.286</c:v>
                </c:pt>
                <c:pt idx="27">
                  <c:v>1</c:v>
                </c:pt>
                <c:pt idx="28">
                  <c:v>0.68400000000000005</c:v>
                </c:pt>
                <c:pt idx="29">
                  <c:v>0.34699999999999998</c:v>
                </c:pt>
                <c:pt idx="30">
                  <c:v>0</c:v>
                </c:pt>
                <c:pt idx="31">
                  <c:v>-0.34699999999999998</c:v>
                </c:pt>
                <c:pt idx="32">
                  <c:v>-0.68400000000000005</c:v>
                </c:pt>
                <c:pt idx="33">
                  <c:v>-1</c:v>
                </c:pt>
                <c:pt idx="34">
                  <c:v>-1.286</c:v>
                </c:pt>
                <c:pt idx="35">
                  <c:v>-1.532</c:v>
                </c:pt>
                <c:pt idx="36">
                  <c:v>-1.732</c:v>
                </c:pt>
                <c:pt idx="37">
                  <c:v>-1.879</c:v>
                </c:pt>
                <c:pt idx="38">
                  <c:v>-1.97</c:v>
                </c:pt>
                <c:pt idx="39">
                  <c:v>-2</c:v>
                </c:pt>
                <c:pt idx="40">
                  <c:v>-1.97</c:v>
                </c:pt>
                <c:pt idx="41">
                  <c:v>-1.879</c:v>
                </c:pt>
                <c:pt idx="42">
                  <c:v>-1.732</c:v>
                </c:pt>
                <c:pt idx="43">
                  <c:v>-1.532</c:v>
                </c:pt>
                <c:pt idx="44">
                  <c:v>-1.286</c:v>
                </c:pt>
                <c:pt idx="45">
                  <c:v>-1</c:v>
                </c:pt>
                <c:pt idx="46">
                  <c:v>-0.68400000000000005</c:v>
                </c:pt>
                <c:pt idx="47">
                  <c:v>-0.34699999999999998</c:v>
                </c:pt>
                <c:pt idx="48">
                  <c:v>0</c:v>
                </c:pt>
                <c:pt idx="49">
                  <c:v>0.34699999999999998</c:v>
                </c:pt>
                <c:pt idx="50">
                  <c:v>0.68400000000000005</c:v>
                </c:pt>
                <c:pt idx="51">
                  <c:v>1</c:v>
                </c:pt>
                <c:pt idx="52">
                  <c:v>1.286</c:v>
                </c:pt>
                <c:pt idx="53">
                  <c:v>1.532</c:v>
                </c:pt>
                <c:pt idx="54">
                  <c:v>1.732</c:v>
                </c:pt>
                <c:pt idx="55">
                  <c:v>1.879</c:v>
                </c:pt>
                <c:pt idx="56">
                  <c:v>1.97</c:v>
                </c:pt>
                <c:pt idx="57">
                  <c:v>2</c:v>
                </c:pt>
                <c:pt idx="58">
                  <c:v>1.97</c:v>
                </c:pt>
                <c:pt idx="59">
                  <c:v>1.879</c:v>
                </c:pt>
                <c:pt idx="60">
                  <c:v>1.732</c:v>
                </c:pt>
                <c:pt idx="61">
                  <c:v>1.532</c:v>
                </c:pt>
                <c:pt idx="62">
                  <c:v>1.286</c:v>
                </c:pt>
                <c:pt idx="63">
                  <c:v>1</c:v>
                </c:pt>
                <c:pt idx="64">
                  <c:v>0.68400000000000005</c:v>
                </c:pt>
                <c:pt idx="65">
                  <c:v>0.34699999999999998</c:v>
                </c:pt>
                <c:pt idx="66">
                  <c:v>0</c:v>
                </c:pt>
                <c:pt idx="67">
                  <c:v>-0.34699999999999998</c:v>
                </c:pt>
                <c:pt idx="68">
                  <c:v>-0.68400000000000005</c:v>
                </c:pt>
                <c:pt idx="69">
                  <c:v>-1</c:v>
                </c:pt>
                <c:pt idx="70">
                  <c:v>-1.286</c:v>
                </c:pt>
                <c:pt idx="71">
                  <c:v>-1.532</c:v>
                </c:pt>
                <c:pt idx="72">
                  <c:v>-1.732</c:v>
                </c:pt>
              </c:numCache>
            </c:numRef>
          </c:val>
          <c:smooth val="1"/>
          <c:extLst>
            <c:ext xmlns:c16="http://schemas.microsoft.com/office/drawing/2014/chart" uri="{C3380CC4-5D6E-409C-BE32-E72D297353CC}">
              <c16:uniqueId val="{00000000-A910-4707-9F77-1702115689A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2"/>
        <c:crosses val="autoZero"/>
        <c:auto val="1"/>
        <c:lblAlgn val="ctr"/>
        <c:lblOffset val="100"/>
        <c:noMultiLvlLbl val="1"/>
      </c:catAx>
      <c:valAx>
        <c:axId val="2094734552"/>
        <c:scaling>
          <c:orientation val="minMax"/>
          <c:max val="2.5"/>
          <c:min val="-2.5"/>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 = 1-2sin(2x+60)</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Sheet1!$A$2:$A$74</c:f>
              <c:strCache>
                <c:ptCount val="7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pt idx="61">
                  <c:v>305</c:v>
                </c:pt>
                <c:pt idx="62">
                  <c:v>310</c:v>
                </c:pt>
                <c:pt idx="63">
                  <c:v>315</c:v>
                </c:pt>
                <c:pt idx="64">
                  <c:v>320</c:v>
                </c:pt>
                <c:pt idx="65">
                  <c:v>325</c:v>
                </c:pt>
                <c:pt idx="66">
                  <c:v>330</c:v>
                </c:pt>
                <c:pt idx="67">
                  <c:v>335</c:v>
                </c:pt>
                <c:pt idx="68">
                  <c:v>340</c:v>
                </c:pt>
                <c:pt idx="69">
                  <c:v>345</c:v>
                </c:pt>
                <c:pt idx="70">
                  <c:v>350</c:v>
                </c:pt>
                <c:pt idx="71">
                  <c:v>355</c:v>
                </c:pt>
                <c:pt idx="72">
                  <c:v>360</c:v>
                </c:pt>
              </c:strCache>
            </c:strRef>
          </c:cat>
          <c:val>
            <c:numRef>
              <c:f>Sheet1!$B$2:$B$74</c:f>
              <c:numCache>
                <c:formatCode>General</c:formatCode>
                <c:ptCount val="73"/>
                <c:pt idx="0">
                  <c:v>-0.73199999999999998</c:v>
                </c:pt>
                <c:pt idx="1">
                  <c:v>-0.879</c:v>
                </c:pt>
                <c:pt idx="2">
                  <c:v>-0.97</c:v>
                </c:pt>
                <c:pt idx="3">
                  <c:v>-1</c:v>
                </c:pt>
                <c:pt idx="4">
                  <c:v>-0.97</c:v>
                </c:pt>
                <c:pt idx="5">
                  <c:v>-0.879</c:v>
                </c:pt>
                <c:pt idx="6">
                  <c:v>-0.73199999999999998</c:v>
                </c:pt>
                <c:pt idx="7">
                  <c:v>-0.53200000000000003</c:v>
                </c:pt>
                <c:pt idx="8">
                  <c:v>-0.28599999999999998</c:v>
                </c:pt>
                <c:pt idx="9">
                  <c:v>0</c:v>
                </c:pt>
                <c:pt idx="10">
                  <c:v>0.316</c:v>
                </c:pt>
                <c:pt idx="11">
                  <c:v>0.65300000000000002</c:v>
                </c:pt>
                <c:pt idx="12">
                  <c:v>1</c:v>
                </c:pt>
                <c:pt idx="13">
                  <c:v>1.347</c:v>
                </c:pt>
                <c:pt idx="14">
                  <c:v>1.6839999999999999</c:v>
                </c:pt>
                <c:pt idx="15">
                  <c:v>2</c:v>
                </c:pt>
                <c:pt idx="16">
                  <c:v>2.286</c:v>
                </c:pt>
                <c:pt idx="17">
                  <c:v>2.532</c:v>
                </c:pt>
                <c:pt idx="18">
                  <c:v>2.7320000000000002</c:v>
                </c:pt>
                <c:pt idx="19">
                  <c:v>2.879</c:v>
                </c:pt>
                <c:pt idx="20">
                  <c:v>2.97</c:v>
                </c:pt>
                <c:pt idx="21">
                  <c:v>3</c:v>
                </c:pt>
                <c:pt idx="22">
                  <c:v>2.97</c:v>
                </c:pt>
                <c:pt idx="23">
                  <c:v>2.879</c:v>
                </c:pt>
                <c:pt idx="24">
                  <c:v>2.7320000000000002</c:v>
                </c:pt>
                <c:pt idx="25">
                  <c:v>2.532</c:v>
                </c:pt>
                <c:pt idx="26">
                  <c:v>2.286</c:v>
                </c:pt>
                <c:pt idx="27">
                  <c:v>2</c:v>
                </c:pt>
                <c:pt idx="28">
                  <c:v>1.6839999999999999</c:v>
                </c:pt>
                <c:pt idx="29">
                  <c:v>1.347</c:v>
                </c:pt>
                <c:pt idx="30">
                  <c:v>1</c:v>
                </c:pt>
                <c:pt idx="31">
                  <c:v>0.65300000000000002</c:v>
                </c:pt>
                <c:pt idx="32">
                  <c:v>0.316</c:v>
                </c:pt>
                <c:pt idx="33">
                  <c:v>0</c:v>
                </c:pt>
                <c:pt idx="34">
                  <c:v>-0.28599999999999998</c:v>
                </c:pt>
                <c:pt idx="35">
                  <c:v>-0.53200000000000003</c:v>
                </c:pt>
                <c:pt idx="36">
                  <c:v>-0.73199999999999998</c:v>
                </c:pt>
                <c:pt idx="37">
                  <c:v>-0.879</c:v>
                </c:pt>
                <c:pt idx="38">
                  <c:v>-0.97</c:v>
                </c:pt>
                <c:pt idx="39">
                  <c:v>-1</c:v>
                </c:pt>
                <c:pt idx="40">
                  <c:v>-0.97</c:v>
                </c:pt>
                <c:pt idx="41">
                  <c:v>-0.879</c:v>
                </c:pt>
                <c:pt idx="42">
                  <c:v>-0.73199999999999998</c:v>
                </c:pt>
                <c:pt idx="43">
                  <c:v>-0.53200000000000003</c:v>
                </c:pt>
                <c:pt idx="44">
                  <c:v>-0.28599999999999998</c:v>
                </c:pt>
                <c:pt idx="45">
                  <c:v>0</c:v>
                </c:pt>
                <c:pt idx="46">
                  <c:v>0.316</c:v>
                </c:pt>
                <c:pt idx="47">
                  <c:v>0.65300000000000002</c:v>
                </c:pt>
                <c:pt idx="48">
                  <c:v>1</c:v>
                </c:pt>
                <c:pt idx="49">
                  <c:v>1.347</c:v>
                </c:pt>
                <c:pt idx="50">
                  <c:v>1.6839999999999999</c:v>
                </c:pt>
                <c:pt idx="51">
                  <c:v>2</c:v>
                </c:pt>
                <c:pt idx="52">
                  <c:v>2.286</c:v>
                </c:pt>
                <c:pt idx="53">
                  <c:v>2.532</c:v>
                </c:pt>
                <c:pt idx="54">
                  <c:v>2.7320000000000002</c:v>
                </c:pt>
                <c:pt idx="55">
                  <c:v>2.879</c:v>
                </c:pt>
                <c:pt idx="56">
                  <c:v>2.97</c:v>
                </c:pt>
                <c:pt idx="57">
                  <c:v>3</c:v>
                </c:pt>
                <c:pt idx="58">
                  <c:v>2.97</c:v>
                </c:pt>
                <c:pt idx="59">
                  <c:v>2.879</c:v>
                </c:pt>
                <c:pt idx="60">
                  <c:v>2.7320000000000002</c:v>
                </c:pt>
                <c:pt idx="61">
                  <c:v>2.532</c:v>
                </c:pt>
                <c:pt idx="62">
                  <c:v>2.286</c:v>
                </c:pt>
                <c:pt idx="63">
                  <c:v>2</c:v>
                </c:pt>
                <c:pt idx="64">
                  <c:v>1.6839999999999999</c:v>
                </c:pt>
                <c:pt idx="65">
                  <c:v>1.347</c:v>
                </c:pt>
                <c:pt idx="66">
                  <c:v>1</c:v>
                </c:pt>
                <c:pt idx="67">
                  <c:v>0.65300000000000002</c:v>
                </c:pt>
                <c:pt idx="68">
                  <c:v>0.316</c:v>
                </c:pt>
                <c:pt idx="69">
                  <c:v>0</c:v>
                </c:pt>
                <c:pt idx="70">
                  <c:v>-0.28599999999999998</c:v>
                </c:pt>
                <c:pt idx="71">
                  <c:v>-0.53200000000000003</c:v>
                </c:pt>
                <c:pt idx="72">
                  <c:v>-0.73199999999999998</c:v>
                </c:pt>
              </c:numCache>
            </c:numRef>
          </c:val>
          <c:smooth val="1"/>
          <c:extLst>
            <c:ext xmlns:c16="http://schemas.microsoft.com/office/drawing/2014/chart" uri="{C3380CC4-5D6E-409C-BE32-E72D297353CC}">
              <c16:uniqueId val="{00000000-3F48-4B34-A775-9FC072B7175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2"/>
        <c:crosses val="autoZero"/>
        <c:auto val="1"/>
        <c:lblAlgn val="ctr"/>
        <c:lblOffset val="100"/>
        <c:noMultiLvlLbl val="1"/>
      </c:catAx>
      <c:valAx>
        <c:axId val="2094734552"/>
        <c:scaling>
          <c:orientation val="minMax"/>
          <c:max val="3.5"/>
          <c:min val="-1.5"/>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c:v>
                </c:pt>
              </c:strCache>
            </c:strRef>
          </c:tx>
          <c:spPr>
            <a:ln w="31750" cap="flat">
              <a:solidFill>
                <a:srgbClr val="065A82"/>
              </a:solidFill>
              <a:prstDash val="solid"/>
              <a:round/>
            </a:ln>
            <a:effectLst/>
          </c:spPr>
          <c:marker>
            <c:symbol val="circle"/>
            <c:size val="6"/>
            <c:spPr>
              <a:solidFill>
                <a:srgbClr val="065A82"/>
              </a:solidFill>
              <a:ln w="9525" cap="flat">
                <a:solidFill>
                  <a:srgbClr val="065A82"/>
                </a:solidFill>
                <a:prstDash val="solid"/>
                <a:round/>
              </a:ln>
              <a:effectLst/>
            </c:spPr>
          </c:marker>
          <c:cat>
            <c:strRef>
              <c:f>Sheet1!$A$2:$A$74</c:f>
              <c:strCache>
                <c:ptCount val="7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pt idx="61">
                  <c:v>305</c:v>
                </c:pt>
                <c:pt idx="62">
                  <c:v>310</c:v>
                </c:pt>
                <c:pt idx="63">
                  <c:v>315</c:v>
                </c:pt>
                <c:pt idx="64">
                  <c:v>320</c:v>
                </c:pt>
                <c:pt idx="65">
                  <c:v>325</c:v>
                </c:pt>
                <c:pt idx="66">
                  <c:v>330</c:v>
                </c:pt>
                <c:pt idx="67">
                  <c:v>335</c:v>
                </c:pt>
                <c:pt idx="68">
                  <c:v>340</c:v>
                </c:pt>
                <c:pt idx="69">
                  <c:v>345</c:v>
                </c:pt>
                <c:pt idx="70">
                  <c:v>350</c:v>
                </c:pt>
                <c:pt idx="71">
                  <c:v>355</c:v>
                </c:pt>
                <c:pt idx="72">
                  <c:v>360</c:v>
                </c:pt>
              </c:strCache>
            </c:strRef>
          </c:cat>
          <c:val>
            <c:numRef>
              <c:f>Sheet1!$B$2:$B$74</c:f>
              <c:numCache>
                <c:formatCode>General</c:formatCode>
                <c:ptCount val="73"/>
                <c:pt idx="0">
                  <c:v>0.73199999999999998</c:v>
                </c:pt>
                <c:pt idx="1">
                  <c:v>0.879</c:v>
                </c:pt>
                <c:pt idx="2">
                  <c:v>0.97</c:v>
                </c:pt>
                <c:pt idx="3">
                  <c:v>1</c:v>
                </c:pt>
                <c:pt idx="4">
                  <c:v>0.97</c:v>
                </c:pt>
                <c:pt idx="5">
                  <c:v>0.879</c:v>
                </c:pt>
                <c:pt idx="6">
                  <c:v>0.73199999999999998</c:v>
                </c:pt>
                <c:pt idx="7">
                  <c:v>0.53200000000000003</c:v>
                </c:pt>
                <c:pt idx="8">
                  <c:v>0.28599999999999998</c:v>
                </c:pt>
                <c:pt idx="9">
                  <c:v>0</c:v>
                </c:pt>
                <c:pt idx="10">
                  <c:v>0.316</c:v>
                </c:pt>
                <c:pt idx="11">
                  <c:v>0.65300000000000002</c:v>
                </c:pt>
                <c:pt idx="12">
                  <c:v>1</c:v>
                </c:pt>
                <c:pt idx="13">
                  <c:v>1.347</c:v>
                </c:pt>
                <c:pt idx="14">
                  <c:v>1.6839999999999999</c:v>
                </c:pt>
                <c:pt idx="15">
                  <c:v>2</c:v>
                </c:pt>
                <c:pt idx="16">
                  <c:v>2.286</c:v>
                </c:pt>
                <c:pt idx="17">
                  <c:v>2.532</c:v>
                </c:pt>
                <c:pt idx="18">
                  <c:v>2.7320000000000002</c:v>
                </c:pt>
                <c:pt idx="19">
                  <c:v>2.879</c:v>
                </c:pt>
                <c:pt idx="20">
                  <c:v>2.97</c:v>
                </c:pt>
                <c:pt idx="21">
                  <c:v>3</c:v>
                </c:pt>
                <c:pt idx="22">
                  <c:v>2.97</c:v>
                </c:pt>
                <c:pt idx="23">
                  <c:v>2.879</c:v>
                </c:pt>
                <c:pt idx="24">
                  <c:v>2.7320000000000002</c:v>
                </c:pt>
                <c:pt idx="25">
                  <c:v>2.532</c:v>
                </c:pt>
                <c:pt idx="26">
                  <c:v>2.286</c:v>
                </c:pt>
                <c:pt idx="27">
                  <c:v>2</c:v>
                </c:pt>
                <c:pt idx="28">
                  <c:v>1.6839999999999999</c:v>
                </c:pt>
                <c:pt idx="29">
                  <c:v>1.347</c:v>
                </c:pt>
                <c:pt idx="30">
                  <c:v>1</c:v>
                </c:pt>
                <c:pt idx="31">
                  <c:v>0.65300000000000002</c:v>
                </c:pt>
                <c:pt idx="32">
                  <c:v>0.316</c:v>
                </c:pt>
                <c:pt idx="33">
                  <c:v>0</c:v>
                </c:pt>
                <c:pt idx="34">
                  <c:v>0.28599999999999998</c:v>
                </c:pt>
                <c:pt idx="35">
                  <c:v>0.53200000000000003</c:v>
                </c:pt>
                <c:pt idx="36">
                  <c:v>0.73199999999999998</c:v>
                </c:pt>
                <c:pt idx="37">
                  <c:v>0.879</c:v>
                </c:pt>
                <c:pt idx="38">
                  <c:v>0.97</c:v>
                </c:pt>
                <c:pt idx="39">
                  <c:v>1</c:v>
                </c:pt>
                <c:pt idx="40">
                  <c:v>0.97</c:v>
                </c:pt>
                <c:pt idx="41">
                  <c:v>0.879</c:v>
                </c:pt>
                <c:pt idx="42">
                  <c:v>0.73199999999999998</c:v>
                </c:pt>
                <c:pt idx="43">
                  <c:v>0.53200000000000003</c:v>
                </c:pt>
                <c:pt idx="44">
                  <c:v>0.28599999999999998</c:v>
                </c:pt>
                <c:pt idx="45">
                  <c:v>0</c:v>
                </c:pt>
                <c:pt idx="46">
                  <c:v>0.316</c:v>
                </c:pt>
                <c:pt idx="47">
                  <c:v>0.65300000000000002</c:v>
                </c:pt>
                <c:pt idx="48">
                  <c:v>1</c:v>
                </c:pt>
                <c:pt idx="49">
                  <c:v>1.347</c:v>
                </c:pt>
                <c:pt idx="50">
                  <c:v>1.6839999999999999</c:v>
                </c:pt>
                <c:pt idx="51">
                  <c:v>2</c:v>
                </c:pt>
                <c:pt idx="52">
                  <c:v>2.286</c:v>
                </c:pt>
                <c:pt idx="53">
                  <c:v>2.532</c:v>
                </c:pt>
                <c:pt idx="54">
                  <c:v>2.7320000000000002</c:v>
                </c:pt>
                <c:pt idx="55">
                  <c:v>2.879</c:v>
                </c:pt>
                <c:pt idx="56">
                  <c:v>2.97</c:v>
                </c:pt>
                <c:pt idx="57">
                  <c:v>3</c:v>
                </c:pt>
                <c:pt idx="58">
                  <c:v>2.97</c:v>
                </c:pt>
                <c:pt idx="59">
                  <c:v>2.879</c:v>
                </c:pt>
                <c:pt idx="60">
                  <c:v>2.7320000000000002</c:v>
                </c:pt>
                <c:pt idx="61">
                  <c:v>2.532</c:v>
                </c:pt>
                <c:pt idx="62">
                  <c:v>2.286</c:v>
                </c:pt>
                <c:pt idx="63">
                  <c:v>2</c:v>
                </c:pt>
                <c:pt idx="64">
                  <c:v>1.6839999999999999</c:v>
                </c:pt>
                <c:pt idx="65">
                  <c:v>1.347</c:v>
                </c:pt>
                <c:pt idx="66">
                  <c:v>1</c:v>
                </c:pt>
                <c:pt idx="67">
                  <c:v>0.65300000000000002</c:v>
                </c:pt>
                <c:pt idx="68">
                  <c:v>0.316</c:v>
                </c:pt>
                <c:pt idx="69">
                  <c:v>0</c:v>
                </c:pt>
                <c:pt idx="70">
                  <c:v>0.28599999999999998</c:v>
                </c:pt>
                <c:pt idx="71">
                  <c:v>0.53200000000000003</c:v>
                </c:pt>
                <c:pt idx="72">
                  <c:v>0.73199999999999998</c:v>
                </c:pt>
              </c:numCache>
            </c:numRef>
          </c:val>
          <c:smooth val="1"/>
          <c:extLst>
            <c:ext xmlns:c16="http://schemas.microsoft.com/office/drawing/2014/chart" uri="{C3380CC4-5D6E-409C-BE32-E72D297353CC}">
              <c16:uniqueId val="{00000000-9050-432B-B33F-27BE043AE50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2"/>
        <c:crosses val="autoZero"/>
        <c:auto val="1"/>
        <c:lblAlgn val="ctr"/>
        <c:lblOffset val="100"/>
        <c:noMultiLvlLbl val="1"/>
      </c:catAx>
      <c:valAx>
        <c:axId val="2094734552"/>
        <c:scaling>
          <c:orientation val="minMax"/>
          <c:max val="3.5"/>
          <c:min val="0"/>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7C8D"/>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4619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2452551" y="1005840"/>
            <a:ext cx="7286897" cy="109728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rPr>
              <a:t>TRIGONOMETRIC GRAPH</a:t>
            </a:r>
            <a:endParaRPr lang="en-US" sz="4800" dirty="0"/>
          </a:p>
        </p:txBody>
      </p:sp>
      <p:sp>
        <p:nvSpPr>
          <p:cNvPr id="3" name="Text 1"/>
          <p:cNvSpPr/>
          <p:nvPr/>
        </p:nvSpPr>
        <p:spPr>
          <a:xfrm>
            <a:off x="4064000" y="1950720"/>
            <a:ext cx="3393440" cy="548640"/>
          </a:xfrm>
          <a:prstGeom prst="rect">
            <a:avLst/>
          </a:prstGeom>
          <a:noFill/>
          <a:ln/>
        </p:spPr>
        <p:txBody>
          <a:bodyPr wrap="square" rtlCol="0" anchor="ctr"/>
          <a:lstStyle/>
          <a:p>
            <a:pPr marL="0" indent="0">
              <a:buNone/>
            </a:pPr>
            <a:r>
              <a:rPr lang="en-US" sz="2000" i="1" dirty="0">
                <a:solidFill>
                  <a:srgbClr val="9FD3E8"/>
                </a:solidFill>
                <a:latin typeface="Calibri" pitchFamily="34" charset="0"/>
                <a:ea typeface="Calibri" pitchFamily="34" charset="-122"/>
                <a:cs typeface="Calibri" pitchFamily="34" charset="-120"/>
              </a:rPr>
              <a:t>Trigonometric Function Graphs</a:t>
            </a:r>
            <a:endParaRPr lang="en-US" sz="2000" dirty="0"/>
          </a:p>
        </p:txBody>
      </p:sp>
      <p:sp>
        <p:nvSpPr>
          <p:cNvPr id="4" name="Text 2"/>
          <p:cNvSpPr/>
          <p:nvPr/>
        </p:nvSpPr>
        <p:spPr>
          <a:xfrm>
            <a:off x="2568303" y="3606800"/>
            <a:ext cx="3527697" cy="457200"/>
          </a:xfrm>
          <a:prstGeom prst="rect">
            <a:avLst/>
          </a:prstGeom>
          <a:noFill/>
          <a:ln/>
        </p:spPr>
        <p:txBody>
          <a:bodyPr wrap="square" rtlCol="0" anchor="ctr"/>
          <a:lstStyle/>
          <a:p>
            <a:pPr>
              <a:lnSpc>
                <a:spcPct val="150000"/>
              </a:lnSpc>
            </a:pPr>
            <a:r>
              <a:rPr lang="en-US" sz="1600" i="1" dirty="0">
                <a:solidFill>
                  <a:schemeClr val="bg1"/>
                </a:solidFill>
                <a:latin typeface="Times New Roman" panose="02020603050405020304" pitchFamily="18" charset="0"/>
                <a:ea typeface="Calibri" pitchFamily="34" charset="-122"/>
                <a:cs typeface="Times New Roman" panose="02020603050405020304" pitchFamily="18" charset="0"/>
              </a:rPr>
              <a:t>GROUP 2 :</a:t>
            </a:r>
          </a:p>
          <a:p>
            <a:pPr>
              <a:lnSpc>
                <a:spcPct val="150000"/>
              </a:lnSpc>
            </a:pPr>
            <a: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t>• Dimas Dwi </a:t>
            </a:r>
            <a:r>
              <a:rPr lang="en-US" sz="1400" dirty="0" err="1">
                <a:solidFill>
                  <a:srgbClr val="CFE8F3"/>
                </a:solidFill>
                <a:latin typeface="Times New Roman" panose="02020603050405020304" pitchFamily="18" charset="0"/>
                <a:ea typeface="Calibri" pitchFamily="34" charset="-122"/>
                <a:cs typeface="Times New Roman" panose="02020603050405020304" pitchFamily="18" charset="0"/>
              </a:rPr>
              <a:t>Aldiansyah</a:t>
            </a:r>
            <a: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t> (105841104825) </a:t>
            </a:r>
          </a:p>
          <a:p>
            <a:pPr>
              <a:lnSpc>
                <a:spcPct val="150000"/>
              </a:lnSpc>
            </a:pPr>
            <a: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t>• Abdul Adi </a:t>
            </a:r>
            <a:r>
              <a:rPr lang="en-US" sz="1400" dirty="0" err="1">
                <a:solidFill>
                  <a:srgbClr val="CFE8F3"/>
                </a:solidFill>
                <a:latin typeface="Times New Roman" panose="02020603050405020304" pitchFamily="18" charset="0"/>
                <a:ea typeface="Calibri" pitchFamily="34" charset="-122"/>
                <a:cs typeface="Times New Roman" panose="02020603050405020304" pitchFamily="18" charset="0"/>
              </a:rPr>
              <a:t>manan</a:t>
            </a:r>
            <a: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t> (105841105725) </a:t>
            </a:r>
          </a:p>
          <a:p>
            <a:pPr>
              <a:lnSpc>
                <a:spcPct val="150000"/>
              </a:lnSpc>
            </a:pPr>
            <a: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t>• Rifky Ogi Ananta (105841104925) </a:t>
            </a:r>
            <a:b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br>
            <a: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t>• Muhammad </a:t>
            </a:r>
            <a:r>
              <a:rPr lang="en-US" sz="1400" dirty="0" err="1">
                <a:solidFill>
                  <a:srgbClr val="CFE8F3"/>
                </a:solidFill>
                <a:latin typeface="Times New Roman" panose="02020603050405020304" pitchFamily="18" charset="0"/>
                <a:ea typeface="Calibri" pitchFamily="34" charset="-122"/>
                <a:cs typeface="Times New Roman" panose="02020603050405020304" pitchFamily="18" charset="0"/>
              </a:rPr>
              <a:t>Fauzy</a:t>
            </a:r>
            <a: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t> Abdillah (105841106025)</a:t>
            </a:r>
          </a:p>
          <a:p>
            <a:pPr>
              <a:lnSpc>
                <a:spcPct val="150000"/>
              </a:lnSpc>
            </a:pPr>
            <a:r>
              <a:rPr lang="en-US" sz="1400" dirty="0">
                <a:solidFill>
                  <a:srgbClr val="CFE8F3"/>
                </a:solidFill>
                <a:latin typeface="Times New Roman" panose="02020603050405020304" pitchFamily="18" charset="0"/>
                <a:ea typeface="Calibri" pitchFamily="34" charset="-122"/>
                <a:cs typeface="Times New Roman" panose="02020603050405020304" pitchFamily="18" charset="0"/>
              </a:rPr>
              <a:t>• Rahmat Hidayatullah (105841106825)</a:t>
            </a: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p>
        </p:txBody>
      </p:sp>
      <p:graphicFrame>
        <p:nvGraphicFramePr>
          <p:cNvPr id="5" name="Chart 0"/>
          <p:cNvGraphicFramePr/>
          <p:nvPr/>
        </p:nvGraphicFramePr>
        <p:xfrm>
          <a:off x="731520" y="4754880"/>
          <a:ext cx="10698480" cy="15544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BASIC CONCEPT</a:t>
            </a:r>
            <a:endParaRPr lang="en-US" sz="1200" dirty="0"/>
          </a:p>
        </p:txBody>
      </p:sp>
      <p:sp>
        <p:nvSpPr>
          <p:cNvPr id="3" name="Text 1"/>
          <p:cNvSpPr/>
          <p:nvPr/>
        </p:nvSpPr>
        <p:spPr>
          <a:xfrm>
            <a:off x="457200" y="502920"/>
            <a:ext cx="112471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The General Form: y = A sin(ax)</a:t>
            </a:r>
            <a:endParaRPr lang="en-US" sz="2800" dirty="0"/>
          </a:p>
        </p:txBody>
      </p:sp>
      <p:sp>
        <p:nvSpPr>
          <p:cNvPr id="4" name="Text 2"/>
          <p:cNvSpPr/>
          <p:nvPr/>
        </p:nvSpPr>
        <p:spPr>
          <a:xfrm>
            <a:off x="548640" y="1371600"/>
            <a:ext cx="5120640" cy="4754880"/>
          </a:xfrm>
          <a:prstGeom prst="rect">
            <a:avLst/>
          </a:prstGeom>
          <a:noFill/>
          <a:ln/>
        </p:spPr>
        <p:txBody>
          <a:bodyPr wrap="square"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 is called the Amplitude of the graph.</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Maximum value of y = A, minimum value of y = -A.</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If A is positive, the curve starts by rising from the origin.</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If A is negative, the curve starts by falling from the origin.</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Example: y = 3 sin x  →  max = 3, min = -3</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Example: y = -3 sin x  →  max = 3, min = -3</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The value "a" controls the Period: T = 360° / a</a:t>
            </a:r>
            <a:endParaRPr lang="en-US" sz="1400" dirty="0"/>
          </a:p>
        </p:txBody>
      </p:sp>
      <p:sp>
        <p:nvSpPr>
          <p:cNvPr id="5" name="Text 3"/>
          <p:cNvSpPr/>
          <p:nvPr/>
        </p:nvSpPr>
        <p:spPr>
          <a:xfrm>
            <a:off x="5943600" y="1051560"/>
            <a:ext cx="5669280" cy="365760"/>
          </a:xfrm>
          <a:prstGeom prst="rect">
            <a:avLst/>
          </a:prstGeom>
          <a:noFill/>
          <a:ln/>
        </p:spPr>
        <p:txBody>
          <a:bodyPr wrap="square"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Example: y = 2 sin x, for 0° ≤ x ≤ 360°</a:t>
            </a:r>
            <a:endParaRPr lang="en-US" sz="1400" dirty="0"/>
          </a:p>
        </p:txBody>
      </p:sp>
      <p:sp>
        <p:nvSpPr>
          <p:cNvPr id="6" name="Text 4"/>
          <p:cNvSpPr/>
          <p:nvPr/>
        </p:nvSpPr>
        <p:spPr>
          <a:xfrm>
            <a:off x="5943600" y="1371600"/>
            <a:ext cx="5669280" cy="457200"/>
          </a:xfrm>
          <a:prstGeom prst="rect">
            <a:avLst/>
          </a:prstGeom>
          <a:noFill/>
          <a:ln/>
        </p:spPr>
        <p:txBody>
          <a:bodyPr wrap="square" rtlCol="0" anchor="ctr"/>
          <a:lstStyle/>
          <a:p>
            <a:pPr marL="0" indent="0">
              <a:buNone/>
            </a:pPr>
            <a:r>
              <a:rPr lang="en-US" sz="1150" dirty="0">
                <a:solidFill>
                  <a:srgbClr val="2B2B2B"/>
                </a:solidFill>
                <a:latin typeface="Calibri" pitchFamily="34" charset="0"/>
                <a:ea typeface="Calibri" pitchFamily="34" charset="-122"/>
                <a:cs typeface="Calibri" pitchFamily="34" charset="-120"/>
              </a:rPr>
              <a:t>Here A = 2, so max = 2 and min = -2. Since a = 1, the period T = 360°/1 = 360°.</a:t>
            </a:r>
            <a:endParaRPr lang="en-US" sz="1150" dirty="0"/>
          </a:p>
        </p:txBody>
      </p:sp>
      <p:graphicFrame>
        <p:nvGraphicFramePr>
          <p:cNvPr id="7" name="Chart 0"/>
          <p:cNvGraphicFramePr/>
          <p:nvPr/>
        </p:nvGraphicFramePr>
        <p:xfrm>
          <a:off x="5943600" y="1828800"/>
          <a:ext cx="566928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0" y="4434840"/>
          <a:ext cx="5669286" cy="585216"/>
        </p:xfrm>
        <a:graphic>
          <a:graphicData uri="http://schemas.openxmlformats.org/drawingml/2006/table">
            <a:tbl>
              <a:tblPr/>
              <a:tblGrid>
                <a:gridCol w="404949">
                  <a:extLst>
                    <a:ext uri="{9D8B030D-6E8A-4147-A177-3AD203B41FA5}">
                      <a16:colId xmlns:a16="http://schemas.microsoft.com/office/drawing/2014/main" val="20000"/>
                    </a:ext>
                  </a:extLst>
                </a:gridCol>
                <a:gridCol w="404949">
                  <a:extLst>
                    <a:ext uri="{9D8B030D-6E8A-4147-A177-3AD203B41FA5}">
                      <a16:colId xmlns:a16="http://schemas.microsoft.com/office/drawing/2014/main" val="20001"/>
                    </a:ext>
                  </a:extLst>
                </a:gridCol>
                <a:gridCol w="404949">
                  <a:extLst>
                    <a:ext uri="{9D8B030D-6E8A-4147-A177-3AD203B41FA5}">
                      <a16:colId xmlns:a16="http://schemas.microsoft.com/office/drawing/2014/main" val="20002"/>
                    </a:ext>
                  </a:extLst>
                </a:gridCol>
                <a:gridCol w="404949">
                  <a:extLst>
                    <a:ext uri="{9D8B030D-6E8A-4147-A177-3AD203B41FA5}">
                      <a16:colId xmlns:a16="http://schemas.microsoft.com/office/drawing/2014/main" val="20003"/>
                    </a:ext>
                  </a:extLst>
                </a:gridCol>
                <a:gridCol w="404949">
                  <a:extLst>
                    <a:ext uri="{9D8B030D-6E8A-4147-A177-3AD203B41FA5}">
                      <a16:colId xmlns:a16="http://schemas.microsoft.com/office/drawing/2014/main" val="20004"/>
                    </a:ext>
                  </a:extLst>
                </a:gridCol>
                <a:gridCol w="404949">
                  <a:extLst>
                    <a:ext uri="{9D8B030D-6E8A-4147-A177-3AD203B41FA5}">
                      <a16:colId xmlns:a16="http://schemas.microsoft.com/office/drawing/2014/main" val="20005"/>
                    </a:ext>
                  </a:extLst>
                </a:gridCol>
                <a:gridCol w="404949">
                  <a:extLst>
                    <a:ext uri="{9D8B030D-6E8A-4147-A177-3AD203B41FA5}">
                      <a16:colId xmlns:a16="http://schemas.microsoft.com/office/drawing/2014/main" val="20006"/>
                    </a:ext>
                  </a:extLst>
                </a:gridCol>
                <a:gridCol w="404949">
                  <a:extLst>
                    <a:ext uri="{9D8B030D-6E8A-4147-A177-3AD203B41FA5}">
                      <a16:colId xmlns:a16="http://schemas.microsoft.com/office/drawing/2014/main" val="20007"/>
                    </a:ext>
                  </a:extLst>
                </a:gridCol>
                <a:gridCol w="404949">
                  <a:extLst>
                    <a:ext uri="{9D8B030D-6E8A-4147-A177-3AD203B41FA5}">
                      <a16:colId xmlns:a16="http://schemas.microsoft.com/office/drawing/2014/main" val="20008"/>
                    </a:ext>
                  </a:extLst>
                </a:gridCol>
                <a:gridCol w="404949">
                  <a:extLst>
                    <a:ext uri="{9D8B030D-6E8A-4147-A177-3AD203B41FA5}">
                      <a16:colId xmlns:a16="http://schemas.microsoft.com/office/drawing/2014/main" val="20009"/>
                    </a:ext>
                  </a:extLst>
                </a:gridCol>
                <a:gridCol w="404949">
                  <a:extLst>
                    <a:ext uri="{9D8B030D-6E8A-4147-A177-3AD203B41FA5}">
                      <a16:colId xmlns:a16="http://schemas.microsoft.com/office/drawing/2014/main" val="20010"/>
                    </a:ext>
                  </a:extLst>
                </a:gridCol>
                <a:gridCol w="404949">
                  <a:extLst>
                    <a:ext uri="{9D8B030D-6E8A-4147-A177-3AD203B41FA5}">
                      <a16:colId xmlns:a16="http://schemas.microsoft.com/office/drawing/2014/main" val="20011"/>
                    </a:ext>
                  </a:extLst>
                </a:gridCol>
                <a:gridCol w="404949">
                  <a:extLst>
                    <a:ext uri="{9D8B030D-6E8A-4147-A177-3AD203B41FA5}">
                      <a16:colId xmlns:a16="http://schemas.microsoft.com/office/drawing/2014/main" val="20012"/>
                    </a:ext>
                  </a:extLst>
                </a:gridCol>
                <a:gridCol w="404949">
                  <a:extLst>
                    <a:ext uri="{9D8B030D-6E8A-4147-A177-3AD203B41FA5}">
                      <a16:colId xmlns:a16="http://schemas.microsoft.com/office/drawing/2014/main" val="20013"/>
                    </a:ext>
                  </a:extLst>
                </a:gridCol>
              </a:tblGrid>
              <a:tr h="292608">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240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270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300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292608">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y</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CHANGING THE PERIOD</a:t>
            </a:r>
            <a:endParaRPr lang="en-US" sz="1200" dirty="0"/>
          </a:p>
        </p:txBody>
      </p:sp>
      <p:sp>
        <p:nvSpPr>
          <p:cNvPr id="3" name="Text 1"/>
          <p:cNvSpPr/>
          <p:nvPr/>
        </p:nvSpPr>
        <p:spPr>
          <a:xfrm>
            <a:off x="457200" y="502920"/>
            <a:ext cx="112471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Example: y = -2 sin(2x)</a:t>
            </a:r>
            <a:endParaRPr lang="en-US" sz="2800" dirty="0"/>
          </a:p>
        </p:txBody>
      </p:sp>
      <p:sp>
        <p:nvSpPr>
          <p:cNvPr id="4" name="Text 2"/>
          <p:cNvSpPr/>
          <p:nvPr/>
        </p:nvSpPr>
        <p:spPr>
          <a:xfrm>
            <a:off x="548640" y="1371600"/>
            <a:ext cx="5212080" cy="4754880"/>
          </a:xfrm>
          <a:prstGeom prst="rect">
            <a:avLst/>
          </a:prstGeom>
          <a:noFill/>
          <a:ln/>
        </p:spPr>
        <p:txBody>
          <a:bodyPr wrap="square"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Amplitude A = -2  →  max = 2, min = -2.</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Since a = 2, the Period T = 360° / 2 = 180°.</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One complete wave now finishes in just 180° instead of 360°.</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Because A is negative, the curve first goes DOWN from the origin.</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To build the table: pick values of 2x (0° to 360°), find y = -2 sin(2x), then divide 2x by 2 to get the matching x.</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So while 2x runs from 0° to 360°, the actual x only runs from 0° to 180° — exactly one period.</a:t>
            </a:r>
            <a:endParaRPr lang="en-US" sz="1400" dirty="0"/>
          </a:p>
        </p:txBody>
      </p:sp>
      <p:graphicFrame>
        <p:nvGraphicFramePr>
          <p:cNvPr id="5" name="Chart 0"/>
          <p:cNvGraphicFramePr/>
          <p:nvPr/>
        </p:nvGraphicFramePr>
        <p:xfrm>
          <a:off x="6035040" y="1097280"/>
          <a:ext cx="5577840"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35040" y="3657600"/>
          <a:ext cx="5577838" cy="822960"/>
        </p:xfrm>
        <a:graphic>
          <a:graphicData uri="http://schemas.openxmlformats.org/drawingml/2006/table">
            <a:tbl>
              <a:tblPr/>
              <a:tblGrid>
                <a:gridCol w="398417">
                  <a:extLst>
                    <a:ext uri="{9D8B030D-6E8A-4147-A177-3AD203B41FA5}">
                      <a16:colId xmlns:a16="http://schemas.microsoft.com/office/drawing/2014/main" val="20000"/>
                    </a:ext>
                  </a:extLst>
                </a:gridCol>
                <a:gridCol w="398417">
                  <a:extLst>
                    <a:ext uri="{9D8B030D-6E8A-4147-A177-3AD203B41FA5}">
                      <a16:colId xmlns:a16="http://schemas.microsoft.com/office/drawing/2014/main" val="20001"/>
                    </a:ext>
                  </a:extLst>
                </a:gridCol>
                <a:gridCol w="398417">
                  <a:extLst>
                    <a:ext uri="{9D8B030D-6E8A-4147-A177-3AD203B41FA5}">
                      <a16:colId xmlns:a16="http://schemas.microsoft.com/office/drawing/2014/main" val="20002"/>
                    </a:ext>
                  </a:extLst>
                </a:gridCol>
                <a:gridCol w="398417">
                  <a:extLst>
                    <a:ext uri="{9D8B030D-6E8A-4147-A177-3AD203B41FA5}">
                      <a16:colId xmlns:a16="http://schemas.microsoft.com/office/drawing/2014/main" val="20003"/>
                    </a:ext>
                  </a:extLst>
                </a:gridCol>
                <a:gridCol w="398417">
                  <a:extLst>
                    <a:ext uri="{9D8B030D-6E8A-4147-A177-3AD203B41FA5}">
                      <a16:colId xmlns:a16="http://schemas.microsoft.com/office/drawing/2014/main" val="20004"/>
                    </a:ext>
                  </a:extLst>
                </a:gridCol>
                <a:gridCol w="398417">
                  <a:extLst>
                    <a:ext uri="{9D8B030D-6E8A-4147-A177-3AD203B41FA5}">
                      <a16:colId xmlns:a16="http://schemas.microsoft.com/office/drawing/2014/main" val="20005"/>
                    </a:ext>
                  </a:extLst>
                </a:gridCol>
                <a:gridCol w="398417">
                  <a:extLst>
                    <a:ext uri="{9D8B030D-6E8A-4147-A177-3AD203B41FA5}">
                      <a16:colId xmlns:a16="http://schemas.microsoft.com/office/drawing/2014/main" val="20006"/>
                    </a:ext>
                  </a:extLst>
                </a:gridCol>
                <a:gridCol w="398417">
                  <a:extLst>
                    <a:ext uri="{9D8B030D-6E8A-4147-A177-3AD203B41FA5}">
                      <a16:colId xmlns:a16="http://schemas.microsoft.com/office/drawing/2014/main" val="20007"/>
                    </a:ext>
                  </a:extLst>
                </a:gridCol>
                <a:gridCol w="398417">
                  <a:extLst>
                    <a:ext uri="{9D8B030D-6E8A-4147-A177-3AD203B41FA5}">
                      <a16:colId xmlns:a16="http://schemas.microsoft.com/office/drawing/2014/main" val="20008"/>
                    </a:ext>
                  </a:extLst>
                </a:gridCol>
                <a:gridCol w="398417">
                  <a:extLst>
                    <a:ext uri="{9D8B030D-6E8A-4147-A177-3AD203B41FA5}">
                      <a16:colId xmlns:a16="http://schemas.microsoft.com/office/drawing/2014/main" val="20009"/>
                    </a:ext>
                  </a:extLst>
                </a:gridCol>
                <a:gridCol w="398417">
                  <a:extLst>
                    <a:ext uri="{9D8B030D-6E8A-4147-A177-3AD203B41FA5}">
                      <a16:colId xmlns:a16="http://schemas.microsoft.com/office/drawing/2014/main" val="20010"/>
                    </a:ext>
                  </a:extLst>
                </a:gridCol>
                <a:gridCol w="398417">
                  <a:extLst>
                    <a:ext uri="{9D8B030D-6E8A-4147-A177-3AD203B41FA5}">
                      <a16:colId xmlns:a16="http://schemas.microsoft.com/office/drawing/2014/main" val="20011"/>
                    </a:ext>
                  </a:extLst>
                </a:gridCol>
                <a:gridCol w="398417">
                  <a:extLst>
                    <a:ext uri="{9D8B030D-6E8A-4147-A177-3AD203B41FA5}">
                      <a16:colId xmlns:a16="http://schemas.microsoft.com/office/drawing/2014/main" val="20012"/>
                    </a:ext>
                  </a:extLst>
                </a:gridCol>
                <a:gridCol w="398417">
                  <a:extLst>
                    <a:ext uri="{9D8B030D-6E8A-4147-A177-3AD203B41FA5}">
                      <a16:colId xmlns:a16="http://schemas.microsoft.com/office/drawing/2014/main" val="20013"/>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2x</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240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270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300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274320">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y</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45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75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105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135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165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REPEATING THE PATTERN</a:t>
            </a:r>
            <a:endParaRPr lang="en-US" sz="1200" dirty="0"/>
          </a:p>
        </p:txBody>
      </p:sp>
      <p:sp>
        <p:nvSpPr>
          <p:cNvPr id="3" name="Text 1"/>
          <p:cNvSpPr/>
          <p:nvPr/>
        </p:nvSpPr>
        <p:spPr>
          <a:xfrm>
            <a:off x="457200" y="502920"/>
            <a:ext cx="112471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y = -2 sin(2x) over 0° ≤ x ≤ 360°</a:t>
            </a:r>
            <a:endParaRPr lang="en-US" sz="2800" dirty="0"/>
          </a:p>
        </p:txBody>
      </p:sp>
      <p:sp>
        <p:nvSpPr>
          <p:cNvPr id="4" name="Text 2"/>
          <p:cNvSpPr/>
          <p:nvPr/>
        </p:nvSpPr>
        <p:spPr>
          <a:xfrm>
            <a:off x="548640" y="1371600"/>
            <a:ext cx="5120640" cy="4754880"/>
          </a:xfrm>
          <a:prstGeom prst="rect">
            <a:avLst/>
          </a:prstGeom>
          <a:noFill/>
          <a:ln/>
        </p:spPr>
        <p:txBody>
          <a:bodyPr wrap="square"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The period is still T = 180°, but now the requested domain is the full 0° to 360°.</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Since 360° ÷ 180° = 2, the wave simply repeats itself twice.</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The first cycle (0°-180°) is identical in shape to the second cycle (180°-360°).</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This is the key idea behind periodic functions: once one period is known, the whole graph can be extended by repeating it.</a:t>
            </a:r>
            <a:endParaRPr lang="en-US" sz="1400" dirty="0"/>
          </a:p>
        </p:txBody>
      </p:sp>
      <p:sp>
        <p:nvSpPr>
          <p:cNvPr id="5" name="Text 3"/>
          <p:cNvSpPr/>
          <p:nvPr/>
        </p:nvSpPr>
        <p:spPr>
          <a:xfrm>
            <a:off x="5943600" y="1051560"/>
            <a:ext cx="566928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Same table of values, read twice (once per period):</a:t>
            </a:r>
            <a:endParaRPr lang="en-US" sz="1200" dirty="0"/>
          </a:p>
        </p:txBody>
      </p:sp>
      <p:graphicFrame>
        <p:nvGraphicFramePr>
          <p:cNvPr id="6" name="Chart 0"/>
          <p:cNvGraphicFramePr/>
          <p:nvPr/>
        </p:nvGraphicFramePr>
        <p:xfrm>
          <a:off x="5943600" y="1417320"/>
          <a:ext cx="566928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0" y="4434840"/>
          <a:ext cx="5669286" cy="822960"/>
        </p:xfrm>
        <a:graphic>
          <a:graphicData uri="http://schemas.openxmlformats.org/drawingml/2006/table">
            <a:tbl>
              <a:tblPr/>
              <a:tblGrid>
                <a:gridCol w="404949">
                  <a:extLst>
                    <a:ext uri="{9D8B030D-6E8A-4147-A177-3AD203B41FA5}">
                      <a16:colId xmlns:a16="http://schemas.microsoft.com/office/drawing/2014/main" val="20000"/>
                    </a:ext>
                  </a:extLst>
                </a:gridCol>
                <a:gridCol w="404949">
                  <a:extLst>
                    <a:ext uri="{9D8B030D-6E8A-4147-A177-3AD203B41FA5}">
                      <a16:colId xmlns:a16="http://schemas.microsoft.com/office/drawing/2014/main" val="20001"/>
                    </a:ext>
                  </a:extLst>
                </a:gridCol>
                <a:gridCol w="404949">
                  <a:extLst>
                    <a:ext uri="{9D8B030D-6E8A-4147-A177-3AD203B41FA5}">
                      <a16:colId xmlns:a16="http://schemas.microsoft.com/office/drawing/2014/main" val="20002"/>
                    </a:ext>
                  </a:extLst>
                </a:gridCol>
                <a:gridCol w="404949">
                  <a:extLst>
                    <a:ext uri="{9D8B030D-6E8A-4147-A177-3AD203B41FA5}">
                      <a16:colId xmlns:a16="http://schemas.microsoft.com/office/drawing/2014/main" val="20003"/>
                    </a:ext>
                  </a:extLst>
                </a:gridCol>
                <a:gridCol w="404949">
                  <a:extLst>
                    <a:ext uri="{9D8B030D-6E8A-4147-A177-3AD203B41FA5}">
                      <a16:colId xmlns:a16="http://schemas.microsoft.com/office/drawing/2014/main" val="20004"/>
                    </a:ext>
                  </a:extLst>
                </a:gridCol>
                <a:gridCol w="404949">
                  <a:extLst>
                    <a:ext uri="{9D8B030D-6E8A-4147-A177-3AD203B41FA5}">
                      <a16:colId xmlns:a16="http://schemas.microsoft.com/office/drawing/2014/main" val="20005"/>
                    </a:ext>
                  </a:extLst>
                </a:gridCol>
                <a:gridCol w="404949">
                  <a:extLst>
                    <a:ext uri="{9D8B030D-6E8A-4147-A177-3AD203B41FA5}">
                      <a16:colId xmlns:a16="http://schemas.microsoft.com/office/drawing/2014/main" val="20006"/>
                    </a:ext>
                  </a:extLst>
                </a:gridCol>
                <a:gridCol w="404949">
                  <a:extLst>
                    <a:ext uri="{9D8B030D-6E8A-4147-A177-3AD203B41FA5}">
                      <a16:colId xmlns:a16="http://schemas.microsoft.com/office/drawing/2014/main" val="20007"/>
                    </a:ext>
                  </a:extLst>
                </a:gridCol>
                <a:gridCol w="404949">
                  <a:extLst>
                    <a:ext uri="{9D8B030D-6E8A-4147-A177-3AD203B41FA5}">
                      <a16:colId xmlns:a16="http://schemas.microsoft.com/office/drawing/2014/main" val="20008"/>
                    </a:ext>
                  </a:extLst>
                </a:gridCol>
                <a:gridCol w="404949">
                  <a:extLst>
                    <a:ext uri="{9D8B030D-6E8A-4147-A177-3AD203B41FA5}">
                      <a16:colId xmlns:a16="http://schemas.microsoft.com/office/drawing/2014/main" val="20009"/>
                    </a:ext>
                  </a:extLst>
                </a:gridCol>
                <a:gridCol w="404949">
                  <a:extLst>
                    <a:ext uri="{9D8B030D-6E8A-4147-A177-3AD203B41FA5}">
                      <a16:colId xmlns:a16="http://schemas.microsoft.com/office/drawing/2014/main" val="20010"/>
                    </a:ext>
                  </a:extLst>
                </a:gridCol>
                <a:gridCol w="404949">
                  <a:extLst>
                    <a:ext uri="{9D8B030D-6E8A-4147-A177-3AD203B41FA5}">
                      <a16:colId xmlns:a16="http://schemas.microsoft.com/office/drawing/2014/main" val="20011"/>
                    </a:ext>
                  </a:extLst>
                </a:gridCol>
                <a:gridCol w="404949">
                  <a:extLst>
                    <a:ext uri="{9D8B030D-6E8A-4147-A177-3AD203B41FA5}">
                      <a16:colId xmlns:a16="http://schemas.microsoft.com/office/drawing/2014/main" val="20012"/>
                    </a:ext>
                  </a:extLst>
                </a:gridCol>
                <a:gridCol w="404949">
                  <a:extLst>
                    <a:ext uri="{9D8B030D-6E8A-4147-A177-3AD203B41FA5}">
                      <a16:colId xmlns:a16="http://schemas.microsoft.com/office/drawing/2014/main" val="20013"/>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2x</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240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270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300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274320">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y</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45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75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105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135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165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HORIZONTAL TRANSLATION</a:t>
            </a:r>
            <a:endParaRPr lang="en-US" sz="1200" dirty="0"/>
          </a:p>
        </p:txBody>
      </p:sp>
      <p:sp>
        <p:nvSpPr>
          <p:cNvPr id="3" name="Text 1"/>
          <p:cNvSpPr/>
          <p:nvPr/>
        </p:nvSpPr>
        <p:spPr>
          <a:xfrm>
            <a:off x="457200" y="502920"/>
            <a:ext cx="112471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Adding a Phase Shift: y = A sin(ax ± b)</a:t>
            </a:r>
            <a:endParaRPr lang="en-US" sz="2800" dirty="0"/>
          </a:p>
        </p:txBody>
      </p:sp>
      <p:sp>
        <p:nvSpPr>
          <p:cNvPr id="4" name="Text 2"/>
          <p:cNvSpPr/>
          <p:nvPr/>
        </p:nvSpPr>
        <p:spPr>
          <a:xfrm>
            <a:off x="548640" y="1371600"/>
            <a:ext cx="5212080" cy="4754880"/>
          </a:xfrm>
          <a:prstGeom prst="rect">
            <a:avLst/>
          </a:prstGeom>
          <a:noFill/>
          <a:ln/>
        </p:spPr>
        <p:txBody>
          <a:bodyPr wrap="square"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 new term "b" (in degrees) is added inside the sine function.</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y = A sin(ax + b)  →  the graph shifts to the RIGHT by b/a degrees.</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y = A sin(ax - b)  →  the graph shifts to the LEFT by b/a degrees.</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The amplitude (A) and the period (T = 360°/a) do not change — only the horizontal position of the wave changes.</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The base graph below, y = -2 sin(2x), will be used as the reference curve for the next example.</a:t>
            </a:r>
            <a:endParaRPr lang="en-US" sz="1400" dirty="0"/>
          </a:p>
        </p:txBody>
      </p:sp>
      <p:sp>
        <p:nvSpPr>
          <p:cNvPr id="5" name="Text 3"/>
          <p:cNvSpPr/>
          <p:nvPr/>
        </p:nvSpPr>
        <p:spPr>
          <a:xfrm>
            <a:off x="6035040" y="1051560"/>
            <a:ext cx="557784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Reference graph: y = -2 sin(2x)</a:t>
            </a:r>
            <a:endParaRPr lang="en-US" sz="1200" dirty="0"/>
          </a:p>
        </p:txBody>
      </p:sp>
      <p:graphicFrame>
        <p:nvGraphicFramePr>
          <p:cNvPr id="6" name="Chart 0"/>
          <p:cNvGraphicFramePr/>
          <p:nvPr/>
        </p:nvGraphicFramePr>
        <p:xfrm>
          <a:off x="6035040" y="1417320"/>
          <a:ext cx="557784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035040" y="4251960"/>
            <a:ext cx="5577840" cy="1737360"/>
          </a:xfrm>
          <a:prstGeom prst="roundRect">
            <a:avLst/>
          </a:prstGeom>
          <a:solidFill>
            <a:srgbClr val="F2F7FA"/>
          </a:solidFill>
          <a:ln/>
          <a:effectLst>
            <a:outerShdw blurRad="76200" dist="25400" dir="2700000" algn="bl" rotWithShape="0">
              <a:srgbClr val="000000">
                <a:alpha val="10000"/>
              </a:srgbClr>
            </a:outerShdw>
          </a:effectLst>
        </p:spPr>
      </p:sp>
      <p:sp>
        <p:nvSpPr>
          <p:cNvPr id="8" name="Text 5"/>
          <p:cNvSpPr/>
          <p:nvPr/>
        </p:nvSpPr>
        <p:spPr>
          <a:xfrm>
            <a:off x="6309360" y="4434840"/>
            <a:ext cx="502920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Shift amount formula:  </a:t>
            </a:r>
            <a:r>
              <a:rPr lang="en-US" sz="1300" dirty="0">
                <a:solidFill>
                  <a:srgbClr val="2B2B2B"/>
                </a:solidFill>
                <a:latin typeface="Calibri" pitchFamily="34" charset="0"/>
                <a:ea typeface="Calibri" pitchFamily="34" charset="-122"/>
                <a:cs typeface="Calibri" pitchFamily="34" charset="-120"/>
              </a:rPr>
              <a:t>shift = b ÷ a</a:t>
            </a:r>
            <a:endParaRPr lang="en-US" sz="1300" dirty="0"/>
          </a:p>
        </p:txBody>
      </p:sp>
      <p:sp>
        <p:nvSpPr>
          <p:cNvPr id="9" name="Text 6"/>
          <p:cNvSpPr/>
          <p:nvPr/>
        </p:nvSpPr>
        <p:spPr>
          <a:xfrm>
            <a:off x="6309360" y="4846320"/>
            <a:ext cx="5029200" cy="320040"/>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 + )  </a:t>
            </a:r>
            <a:r>
              <a:rPr lang="en-US" sz="1250" dirty="0">
                <a:solidFill>
                  <a:srgbClr val="2B2B2B"/>
                </a:solidFill>
                <a:latin typeface="Calibri" pitchFamily="34" charset="0"/>
                <a:ea typeface="Calibri" pitchFamily="34" charset="-122"/>
                <a:cs typeface="Calibri" pitchFamily="34" charset="-120"/>
              </a:rPr>
              <a:t>shifts the curve to the RIGHT</a:t>
            </a:r>
            <a:endParaRPr lang="en-US" sz="1250" dirty="0"/>
          </a:p>
        </p:txBody>
      </p:sp>
      <p:sp>
        <p:nvSpPr>
          <p:cNvPr id="10" name="Text 7"/>
          <p:cNvSpPr/>
          <p:nvPr/>
        </p:nvSpPr>
        <p:spPr>
          <a:xfrm>
            <a:off x="6309360" y="5166360"/>
            <a:ext cx="5029200" cy="320040"/>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 - )  </a:t>
            </a:r>
            <a:r>
              <a:rPr lang="en-US" sz="1250" dirty="0">
                <a:solidFill>
                  <a:srgbClr val="2B2B2B"/>
                </a:solidFill>
                <a:latin typeface="Calibri" pitchFamily="34" charset="0"/>
                <a:ea typeface="Calibri" pitchFamily="34" charset="-122"/>
                <a:cs typeface="Calibri" pitchFamily="34" charset="-120"/>
              </a:rPr>
              <a:t>shifts the curve to the LEFT</a:t>
            </a:r>
            <a:endParaRPr lang="en-US" sz="1250" dirty="0"/>
          </a:p>
        </p:txBody>
      </p:sp>
      <p:sp>
        <p:nvSpPr>
          <p:cNvPr id="11" name="Text 8"/>
          <p:cNvSpPr/>
          <p:nvPr/>
        </p:nvSpPr>
        <p:spPr>
          <a:xfrm>
            <a:off x="6309360" y="5532120"/>
            <a:ext cx="5029200" cy="320040"/>
          </a:xfrm>
          <a:prstGeom prst="rect">
            <a:avLst/>
          </a:prstGeom>
          <a:noFill/>
          <a:ln/>
        </p:spPr>
        <p:txBody>
          <a:bodyPr wrap="square" rtlCol="0" anchor="ctr"/>
          <a:lstStyle/>
          <a:p>
            <a:pPr marL="0" indent="0">
              <a:buNone/>
            </a:pPr>
            <a:r>
              <a:rPr lang="en-US" sz="1150" i="1" dirty="0">
                <a:solidFill>
                  <a:srgbClr val="5B7C8D"/>
                </a:solidFill>
                <a:latin typeface="Calibri" pitchFamily="34" charset="0"/>
                <a:ea typeface="Calibri" pitchFamily="34" charset="-122"/>
                <a:cs typeface="Calibri" pitchFamily="34" charset="-120"/>
              </a:rPr>
              <a:t>Next: apply this rule to y = -2 sin(2x + 60°)</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APPLYING THE SHIFT</a:t>
            </a:r>
            <a:endParaRPr lang="en-US" sz="1200" dirty="0"/>
          </a:p>
        </p:txBody>
      </p:sp>
      <p:sp>
        <p:nvSpPr>
          <p:cNvPr id="3" name="Text 1"/>
          <p:cNvSpPr/>
          <p:nvPr/>
        </p:nvSpPr>
        <p:spPr>
          <a:xfrm>
            <a:off x="457200" y="502920"/>
            <a:ext cx="112471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Example: y = -2 sin(2x + 60°)</a:t>
            </a:r>
            <a:endParaRPr lang="en-US" sz="2800" dirty="0"/>
          </a:p>
        </p:txBody>
      </p:sp>
      <p:sp>
        <p:nvSpPr>
          <p:cNvPr id="4" name="Text 2"/>
          <p:cNvSpPr/>
          <p:nvPr/>
        </p:nvSpPr>
        <p:spPr>
          <a:xfrm>
            <a:off x="548640" y="1371600"/>
            <a:ext cx="5212080" cy="4754880"/>
          </a:xfrm>
          <a:prstGeom prst="rect">
            <a:avLst/>
          </a:prstGeom>
          <a:noFill/>
          <a:ln/>
        </p:spPr>
        <p:txBody>
          <a:bodyPr wrap="square"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Here a = 2 and b = 60°, and the sign in front of b is positive.</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Shift amount = b / a = 60° / 2 = 30°.</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Because the sign is ( + ), the whole graph of y = -2 sin(2x) moves 30° to the RIGHT.</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Amplitude (max = 2, min = -2) and period (T = 180°) stay exactly the same.</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Every point of the original curve is simply relocated 30° further along the x-axis.</a:t>
            </a:r>
            <a:endParaRPr lang="en-US" sz="1400" dirty="0"/>
          </a:p>
        </p:txBody>
      </p:sp>
      <p:sp>
        <p:nvSpPr>
          <p:cNvPr id="5" name="Text 3"/>
          <p:cNvSpPr/>
          <p:nvPr/>
        </p:nvSpPr>
        <p:spPr>
          <a:xfrm>
            <a:off x="6035040" y="1051560"/>
            <a:ext cx="557784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Shifted graph (30° to the right)</a:t>
            </a:r>
            <a:endParaRPr lang="en-US" sz="1200" dirty="0"/>
          </a:p>
        </p:txBody>
      </p:sp>
      <p:graphicFrame>
        <p:nvGraphicFramePr>
          <p:cNvPr id="6" name="Chart 0"/>
          <p:cNvGraphicFramePr/>
          <p:nvPr/>
        </p:nvGraphicFramePr>
        <p:xfrm>
          <a:off x="6035040" y="1417320"/>
          <a:ext cx="557784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35040" y="4480560"/>
          <a:ext cx="5577838" cy="1554480"/>
        </p:xfrm>
        <a:graphic>
          <a:graphicData uri="http://schemas.openxmlformats.org/drawingml/2006/table">
            <a:tbl>
              <a:tblPr/>
              <a:tblGrid>
                <a:gridCol w="398417">
                  <a:extLst>
                    <a:ext uri="{9D8B030D-6E8A-4147-A177-3AD203B41FA5}">
                      <a16:colId xmlns:a16="http://schemas.microsoft.com/office/drawing/2014/main" val="20000"/>
                    </a:ext>
                  </a:extLst>
                </a:gridCol>
                <a:gridCol w="398417">
                  <a:extLst>
                    <a:ext uri="{9D8B030D-6E8A-4147-A177-3AD203B41FA5}">
                      <a16:colId xmlns:a16="http://schemas.microsoft.com/office/drawing/2014/main" val="20001"/>
                    </a:ext>
                  </a:extLst>
                </a:gridCol>
                <a:gridCol w="398417">
                  <a:extLst>
                    <a:ext uri="{9D8B030D-6E8A-4147-A177-3AD203B41FA5}">
                      <a16:colId xmlns:a16="http://schemas.microsoft.com/office/drawing/2014/main" val="20002"/>
                    </a:ext>
                  </a:extLst>
                </a:gridCol>
                <a:gridCol w="398417">
                  <a:extLst>
                    <a:ext uri="{9D8B030D-6E8A-4147-A177-3AD203B41FA5}">
                      <a16:colId xmlns:a16="http://schemas.microsoft.com/office/drawing/2014/main" val="20003"/>
                    </a:ext>
                  </a:extLst>
                </a:gridCol>
                <a:gridCol w="398417">
                  <a:extLst>
                    <a:ext uri="{9D8B030D-6E8A-4147-A177-3AD203B41FA5}">
                      <a16:colId xmlns:a16="http://schemas.microsoft.com/office/drawing/2014/main" val="20004"/>
                    </a:ext>
                  </a:extLst>
                </a:gridCol>
                <a:gridCol w="398417">
                  <a:extLst>
                    <a:ext uri="{9D8B030D-6E8A-4147-A177-3AD203B41FA5}">
                      <a16:colId xmlns:a16="http://schemas.microsoft.com/office/drawing/2014/main" val="20005"/>
                    </a:ext>
                  </a:extLst>
                </a:gridCol>
                <a:gridCol w="398417">
                  <a:extLst>
                    <a:ext uri="{9D8B030D-6E8A-4147-A177-3AD203B41FA5}">
                      <a16:colId xmlns:a16="http://schemas.microsoft.com/office/drawing/2014/main" val="20006"/>
                    </a:ext>
                  </a:extLst>
                </a:gridCol>
                <a:gridCol w="398417">
                  <a:extLst>
                    <a:ext uri="{9D8B030D-6E8A-4147-A177-3AD203B41FA5}">
                      <a16:colId xmlns:a16="http://schemas.microsoft.com/office/drawing/2014/main" val="20007"/>
                    </a:ext>
                  </a:extLst>
                </a:gridCol>
                <a:gridCol w="398417">
                  <a:extLst>
                    <a:ext uri="{9D8B030D-6E8A-4147-A177-3AD203B41FA5}">
                      <a16:colId xmlns:a16="http://schemas.microsoft.com/office/drawing/2014/main" val="20008"/>
                    </a:ext>
                  </a:extLst>
                </a:gridCol>
                <a:gridCol w="398417">
                  <a:extLst>
                    <a:ext uri="{9D8B030D-6E8A-4147-A177-3AD203B41FA5}">
                      <a16:colId xmlns:a16="http://schemas.microsoft.com/office/drawing/2014/main" val="20009"/>
                    </a:ext>
                  </a:extLst>
                </a:gridCol>
                <a:gridCol w="398417">
                  <a:extLst>
                    <a:ext uri="{9D8B030D-6E8A-4147-A177-3AD203B41FA5}">
                      <a16:colId xmlns:a16="http://schemas.microsoft.com/office/drawing/2014/main" val="20010"/>
                    </a:ext>
                  </a:extLst>
                </a:gridCol>
                <a:gridCol w="398417">
                  <a:extLst>
                    <a:ext uri="{9D8B030D-6E8A-4147-A177-3AD203B41FA5}">
                      <a16:colId xmlns:a16="http://schemas.microsoft.com/office/drawing/2014/main" val="20011"/>
                    </a:ext>
                  </a:extLst>
                </a:gridCol>
                <a:gridCol w="398417">
                  <a:extLst>
                    <a:ext uri="{9D8B030D-6E8A-4147-A177-3AD203B41FA5}">
                      <a16:colId xmlns:a16="http://schemas.microsoft.com/office/drawing/2014/main" val="20012"/>
                    </a:ext>
                  </a:extLst>
                </a:gridCol>
                <a:gridCol w="398417">
                  <a:extLst>
                    <a:ext uri="{9D8B030D-6E8A-4147-A177-3AD203B41FA5}">
                      <a16:colId xmlns:a16="http://schemas.microsoft.com/office/drawing/2014/main" val="20013"/>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2x</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240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270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300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274320">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y (base)</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x (shifted +30°)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45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75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105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135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165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195</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tc>
                  <a:txBody>
                    <a:bodyPr/>
                    <a:lstStyle/>
                    <a:p>
                      <a:pPr marL="0" indent="0" algn="ctr">
                        <a:buNone/>
                      </a:pPr>
                      <a:r>
                        <a:rPr lang="en-US" sz="900" dirty="0">
                          <a:solidFill>
                            <a:srgbClr val="2B2B2B"/>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anchor="ctr">
                    <a:lnL w="6350" cap="flat" cmpd="sng" algn="ctr">
                      <a:solidFill>
                        <a:srgbClr val="CBD9E1"/>
                      </a:solidFill>
                      <a:prstDash val="solid"/>
                      <a:round/>
                      <a:headEnd type="none" w="med" len="med"/>
                      <a:tailEnd type="none" w="med" len="med"/>
                    </a:lnL>
                    <a:lnR w="6350" cap="flat" cmpd="sng" algn="ctr">
                      <a:solidFill>
                        <a:srgbClr val="CBD9E1"/>
                      </a:solidFill>
                      <a:prstDash val="solid"/>
                      <a:round/>
                      <a:headEnd type="none" w="med" len="med"/>
                      <a:tailEnd type="none" w="med" len="med"/>
                    </a:lnR>
                    <a:lnT w="6350" cap="flat" cmpd="sng" algn="ctr">
                      <a:solidFill>
                        <a:srgbClr val="CBD9E1"/>
                      </a:solidFill>
                      <a:prstDash val="solid"/>
                      <a:round/>
                      <a:headEnd type="none" w="med" len="med"/>
                      <a:tailEnd type="none" w="med" len="med"/>
                    </a:lnT>
                    <a:lnB w="6350" cap="flat" cmpd="sng" algn="ctr">
                      <a:solidFill>
                        <a:srgbClr val="CBD9E1"/>
                      </a:solidFill>
                      <a:prstDash val="solid"/>
                      <a:round/>
                      <a:headEnd type="none" w="med" len="med"/>
                      <a:tailEnd type="none" w="med" len="med"/>
                    </a:lnB>
                    <a:solidFill>
                      <a:srgbClr val="F2F7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VERTICAL TRANSLATION</a:t>
            </a:r>
            <a:endParaRPr lang="en-US" sz="1200" dirty="0"/>
          </a:p>
        </p:txBody>
      </p:sp>
      <p:sp>
        <p:nvSpPr>
          <p:cNvPr id="3" name="Text 1"/>
          <p:cNvSpPr/>
          <p:nvPr/>
        </p:nvSpPr>
        <p:spPr>
          <a:xfrm>
            <a:off x="457200" y="502920"/>
            <a:ext cx="112471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Adding a Vertical Shift: y = A sin(ax ± b) ± c</a:t>
            </a:r>
            <a:endParaRPr lang="en-US" sz="2800" dirty="0"/>
          </a:p>
        </p:txBody>
      </p:sp>
      <p:sp>
        <p:nvSpPr>
          <p:cNvPr id="4" name="Text 2"/>
          <p:cNvSpPr/>
          <p:nvPr/>
        </p:nvSpPr>
        <p:spPr>
          <a:xfrm>
            <a:off x="548640" y="1371600"/>
            <a:ext cx="5212080" cy="4754880"/>
          </a:xfrm>
          <a:prstGeom prst="rect">
            <a:avLst/>
          </a:prstGeom>
          <a:noFill/>
          <a:ln/>
        </p:spPr>
        <p:txBody>
          <a:bodyPr wrap="square"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 constant "c" is now added or subtracted outside the sine term.</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+c  →  the whole graph moves UP by c units (the x-axis reference line moves down by c).</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-c  →  the whole graph moves DOWN by c units (the x-axis reference line moves up by c).</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Amplitude and period are still unchanged — the curve keeps its exact shape, only its vertical position changes.</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Example to apply this rule:</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y = -2 sin(2x + 60°) + 1 = 1 - 2 sin(2x + 60°)</a:t>
            </a:r>
            <a:endParaRPr lang="en-US" sz="1400" dirty="0"/>
          </a:p>
        </p:txBody>
      </p:sp>
      <p:sp>
        <p:nvSpPr>
          <p:cNvPr id="5" name="Text 3"/>
          <p:cNvSpPr/>
          <p:nvPr/>
        </p:nvSpPr>
        <p:spPr>
          <a:xfrm>
            <a:off x="6035040" y="1051560"/>
            <a:ext cx="557784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Curve before the vertical shift is applied</a:t>
            </a:r>
            <a:endParaRPr lang="en-US" sz="1200" dirty="0"/>
          </a:p>
        </p:txBody>
      </p:sp>
      <p:graphicFrame>
        <p:nvGraphicFramePr>
          <p:cNvPr id="6" name="Chart 0"/>
          <p:cNvGraphicFramePr/>
          <p:nvPr/>
        </p:nvGraphicFramePr>
        <p:xfrm>
          <a:off x="6035040" y="1417320"/>
          <a:ext cx="557784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035040" y="4251960"/>
            <a:ext cx="5577840" cy="1737360"/>
          </a:xfrm>
          <a:prstGeom prst="roundRect">
            <a:avLst/>
          </a:prstGeom>
          <a:solidFill>
            <a:srgbClr val="F2F7FA"/>
          </a:solidFill>
          <a:ln/>
          <a:effectLst>
            <a:outerShdw blurRad="76200" dist="25400" dir="2700000" algn="bl" rotWithShape="0">
              <a:srgbClr val="000000">
                <a:alpha val="10000"/>
              </a:srgbClr>
            </a:outerShdw>
          </a:effectLst>
        </p:spPr>
      </p:sp>
      <p:sp>
        <p:nvSpPr>
          <p:cNvPr id="8" name="Text 5"/>
          <p:cNvSpPr/>
          <p:nvPr/>
        </p:nvSpPr>
        <p:spPr>
          <a:xfrm>
            <a:off x="6309360" y="4434840"/>
            <a:ext cx="5120640" cy="365760"/>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+c  </a:t>
            </a:r>
            <a:r>
              <a:rPr lang="en-US" sz="1250" dirty="0">
                <a:solidFill>
                  <a:srgbClr val="2B2B2B"/>
                </a:solidFill>
                <a:latin typeface="Calibri" pitchFamily="34" charset="0"/>
                <a:ea typeface="Calibri" pitchFamily="34" charset="-122"/>
                <a:cs typeface="Calibri" pitchFamily="34" charset="-120"/>
              </a:rPr>
              <a:t>→ shift the x-axis reference DOWN by c (graph rises)</a:t>
            </a:r>
            <a:endParaRPr lang="en-US" sz="1250" dirty="0"/>
          </a:p>
        </p:txBody>
      </p:sp>
      <p:sp>
        <p:nvSpPr>
          <p:cNvPr id="9" name="Text 6"/>
          <p:cNvSpPr/>
          <p:nvPr/>
        </p:nvSpPr>
        <p:spPr>
          <a:xfrm>
            <a:off x="6309360" y="4846320"/>
            <a:ext cx="5120640" cy="365760"/>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-c  </a:t>
            </a:r>
            <a:r>
              <a:rPr lang="en-US" sz="1250" dirty="0">
                <a:solidFill>
                  <a:srgbClr val="2B2B2B"/>
                </a:solidFill>
                <a:latin typeface="Calibri" pitchFamily="34" charset="0"/>
                <a:ea typeface="Calibri" pitchFamily="34" charset="-122"/>
                <a:cs typeface="Calibri" pitchFamily="34" charset="-120"/>
              </a:rPr>
              <a:t>→ shift the x-axis reference UP by c (graph falls)</a:t>
            </a:r>
            <a:endParaRPr lang="en-US" sz="1250" dirty="0"/>
          </a:p>
        </p:txBody>
      </p:sp>
      <p:sp>
        <p:nvSpPr>
          <p:cNvPr id="10" name="Text 7"/>
          <p:cNvSpPr/>
          <p:nvPr/>
        </p:nvSpPr>
        <p:spPr>
          <a:xfrm>
            <a:off x="6309360" y="5257800"/>
            <a:ext cx="5120640" cy="548640"/>
          </a:xfrm>
          <a:prstGeom prst="rect">
            <a:avLst/>
          </a:prstGeom>
          <a:noFill/>
          <a:ln/>
        </p:spPr>
        <p:txBody>
          <a:bodyPr wrap="square" rtlCol="0" anchor="ctr"/>
          <a:lstStyle/>
          <a:p>
            <a:pPr marL="0" indent="0">
              <a:buNone/>
            </a:pPr>
            <a:r>
              <a:rPr lang="en-US" sz="1150" i="1" dirty="0">
                <a:solidFill>
                  <a:srgbClr val="5B7C8D"/>
                </a:solidFill>
                <a:latin typeface="Calibri" pitchFamily="34" charset="0"/>
                <a:ea typeface="Calibri" pitchFamily="34" charset="-122"/>
                <a:cs typeface="Calibri" pitchFamily="34" charset="-120"/>
              </a:rPr>
              <a:t>Here c = 1, so the reference line moves down 1 unit — the graph is shifted up by 1.</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CHECKING THE SHIFT</a:t>
            </a:r>
            <a:endParaRPr lang="en-US" sz="1200" dirty="0"/>
          </a:p>
        </p:txBody>
      </p:sp>
      <p:sp>
        <p:nvSpPr>
          <p:cNvPr id="3" name="Text 1"/>
          <p:cNvSpPr/>
          <p:nvPr/>
        </p:nvSpPr>
        <p:spPr>
          <a:xfrm>
            <a:off x="457200" y="502920"/>
            <a:ext cx="112471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y = -2 sin(2x + 60°) + 1 = 1 - 2 sin(2x + 60°)</a:t>
            </a:r>
            <a:endParaRPr lang="en-US" sz="2800" dirty="0"/>
          </a:p>
        </p:txBody>
      </p:sp>
      <p:sp>
        <p:nvSpPr>
          <p:cNvPr id="4" name="Text 2"/>
          <p:cNvSpPr/>
          <p:nvPr/>
        </p:nvSpPr>
        <p:spPr>
          <a:xfrm>
            <a:off x="548640" y="1371600"/>
            <a:ext cx="5212080" cy="4754880"/>
          </a:xfrm>
          <a:prstGeom prst="rect">
            <a:avLst/>
          </a:prstGeom>
          <a:noFill/>
          <a:ln/>
        </p:spPr>
        <p:txBody>
          <a:bodyPr wrap="square"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To locate the new curve precisely, find the y-intercept (value of y at x = 0°):</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y = -2 sin(60°) + 1</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y = -2 · (½√3) + 1</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y = 1 - √3  ≈  -0.73</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Compare with the un-shifted value at that point, -√3: the difference is</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-√3 - (-1) = 1 - √3, which matches c = 1 exactly — confirming the shift.</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So the entire wave is simply the previous curve, moved up by 1 unit (its reference x-axis line moved down by 1).</a:t>
            </a:r>
            <a:endParaRPr lang="en-US" sz="1400" dirty="0"/>
          </a:p>
        </p:txBody>
      </p:sp>
      <p:sp>
        <p:nvSpPr>
          <p:cNvPr id="5" name="Text 3"/>
          <p:cNvSpPr/>
          <p:nvPr/>
        </p:nvSpPr>
        <p:spPr>
          <a:xfrm>
            <a:off x="6035040" y="1051560"/>
            <a:ext cx="557784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y = 1 - 2 sin(2x + 60°), full domain 0°-360°</a:t>
            </a:r>
            <a:endParaRPr lang="en-US" sz="1200" dirty="0"/>
          </a:p>
        </p:txBody>
      </p:sp>
      <p:graphicFrame>
        <p:nvGraphicFramePr>
          <p:cNvPr id="6" name="Chart 0"/>
          <p:cNvGraphicFramePr/>
          <p:nvPr/>
        </p:nvGraphicFramePr>
        <p:xfrm>
          <a:off x="6035040" y="1417320"/>
          <a:ext cx="55778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035040" y="4434840"/>
            <a:ext cx="5577840" cy="1417320"/>
          </a:xfrm>
          <a:prstGeom prst="roundRect">
            <a:avLst/>
          </a:prstGeom>
          <a:solidFill>
            <a:srgbClr val="F2F7FA"/>
          </a:solidFill>
          <a:ln/>
          <a:effectLst>
            <a:outerShdw blurRad="76200" dist="25400" dir="2700000" algn="bl" rotWithShape="0">
              <a:srgbClr val="000000">
                <a:alpha val="10000"/>
              </a:srgbClr>
            </a:outerShdw>
          </a:effectLst>
        </p:spPr>
      </p:sp>
      <p:sp>
        <p:nvSpPr>
          <p:cNvPr id="8" name="Text 5"/>
          <p:cNvSpPr/>
          <p:nvPr/>
        </p:nvSpPr>
        <p:spPr>
          <a:xfrm>
            <a:off x="6309360" y="4663440"/>
            <a:ext cx="512064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Y-intercept: (0°, 1-√3)  ≈  (0°, -0.73)</a:t>
            </a:r>
            <a:endParaRPr lang="en-US" sz="1300" dirty="0"/>
          </a:p>
        </p:txBody>
      </p:sp>
      <p:sp>
        <p:nvSpPr>
          <p:cNvPr id="9" name="Text 6"/>
          <p:cNvSpPr/>
          <p:nvPr/>
        </p:nvSpPr>
        <p:spPr>
          <a:xfrm>
            <a:off x="6309360" y="5074920"/>
            <a:ext cx="5120640" cy="365760"/>
          </a:xfrm>
          <a:prstGeom prst="rect">
            <a:avLst/>
          </a:prstGeom>
          <a:noFill/>
          <a:ln/>
        </p:spPr>
        <p:txBody>
          <a:bodyPr wrap="square" rtlCol="0" anchor="ctr"/>
          <a:lstStyle/>
          <a:p>
            <a:pPr marL="0" indent="0">
              <a:buNone/>
            </a:pPr>
            <a:r>
              <a:rPr lang="en-US" sz="1250" dirty="0">
                <a:solidFill>
                  <a:srgbClr val="2B2B2B"/>
                </a:solidFill>
                <a:latin typeface="Calibri" pitchFamily="34" charset="0"/>
                <a:ea typeface="Calibri" pitchFamily="34" charset="-122"/>
                <a:cs typeface="Calibri" pitchFamily="34" charset="-120"/>
              </a:rPr>
              <a:t>New max = 1 + 2 = 3   |   New min = 1 - 2 = -1</a:t>
            </a:r>
            <a:endParaRPr lang="en-US" sz="1250" dirty="0"/>
          </a:p>
        </p:txBody>
      </p:sp>
      <p:sp>
        <p:nvSpPr>
          <p:cNvPr id="10" name="Text 7"/>
          <p:cNvSpPr/>
          <p:nvPr/>
        </p:nvSpPr>
        <p:spPr>
          <a:xfrm>
            <a:off x="6309360" y="5440680"/>
            <a:ext cx="5120640" cy="320040"/>
          </a:xfrm>
          <a:prstGeom prst="rect">
            <a:avLst/>
          </a:prstGeom>
          <a:noFill/>
          <a:ln/>
        </p:spPr>
        <p:txBody>
          <a:bodyPr wrap="square" rtlCol="0" anchor="ctr"/>
          <a:lstStyle/>
          <a:p>
            <a:pPr marL="0" indent="0">
              <a:buNone/>
            </a:pPr>
            <a:r>
              <a:rPr lang="en-US" sz="1100" i="1" dirty="0">
                <a:solidFill>
                  <a:srgbClr val="5B7C8D"/>
                </a:solidFill>
                <a:latin typeface="Calibri" pitchFamily="34" charset="0"/>
                <a:ea typeface="Calibri" pitchFamily="34" charset="-122"/>
                <a:cs typeface="Calibri" pitchFamily="34" charset="-120"/>
              </a:rPr>
              <a:t>(the whole -2 to 2 range is shifted up by c = 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REFLECTING NEGATIVE PARTS</a:t>
            </a:r>
            <a:endParaRPr lang="en-US" sz="1200" dirty="0"/>
          </a:p>
        </p:txBody>
      </p:sp>
      <p:sp>
        <p:nvSpPr>
          <p:cNvPr id="3" name="Text 1"/>
          <p:cNvSpPr/>
          <p:nvPr/>
        </p:nvSpPr>
        <p:spPr>
          <a:xfrm>
            <a:off x="457200" y="502920"/>
            <a:ext cx="112471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Absolute Value: y = |-2 sin(2x + 60°) + 1|</a:t>
            </a:r>
            <a:endParaRPr lang="en-US" sz="2800" dirty="0"/>
          </a:p>
        </p:txBody>
      </p:sp>
      <p:sp>
        <p:nvSpPr>
          <p:cNvPr id="4" name="Text 2"/>
          <p:cNvSpPr/>
          <p:nvPr/>
        </p:nvSpPr>
        <p:spPr>
          <a:xfrm>
            <a:off x="548640" y="1371600"/>
            <a:ext cx="5212080" cy="4754880"/>
          </a:xfrm>
          <a:prstGeom prst="rect">
            <a:avLst/>
          </a:prstGeom>
          <a:noFill/>
          <a:ln/>
        </p:spPr>
        <p:txBody>
          <a:bodyPr wrap="square"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Taking the absolute value forces every output to be positive: y = |1 - 2 sin(2x + 60°)|.</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Any part of the curve that dips BELOW the x-axis is mirrored (reflected) to ABOVE the x-axis.</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Parts of the curve already above the x-axis stay exactly the same.</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The mirror line is the x-axis itself — each negative value -k becomes +k.</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The result is a graph where y is never negative; the "valleys" that used to dip down now appear as upward bumps.</a:t>
            </a:r>
            <a:endParaRPr lang="en-US" sz="1400" dirty="0"/>
          </a:p>
        </p:txBody>
      </p:sp>
      <p:sp>
        <p:nvSpPr>
          <p:cNvPr id="5" name="Text 3"/>
          <p:cNvSpPr/>
          <p:nvPr/>
        </p:nvSpPr>
        <p:spPr>
          <a:xfrm>
            <a:off x="6035040" y="1051560"/>
            <a:ext cx="557784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y = |1 - 2 sin(2x + 60°)|, always positive</a:t>
            </a:r>
            <a:endParaRPr lang="en-US" sz="1200" dirty="0"/>
          </a:p>
        </p:txBody>
      </p:sp>
      <p:graphicFrame>
        <p:nvGraphicFramePr>
          <p:cNvPr id="6" name="Chart 0"/>
          <p:cNvGraphicFramePr/>
          <p:nvPr/>
        </p:nvGraphicFramePr>
        <p:xfrm>
          <a:off x="6035040" y="1417320"/>
          <a:ext cx="55778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035040" y="4434840"/>
            <a:ext cx="5577840" cy="1417320"/>
          </a:xfrm>
          <a:prstGeom prst="roundRect">
            <a:avLst/>
          </a:prstGeom>
          <a:solidFill>
            <a:srgbClr val="F2F7FA"/>
          </a:solidFill>
          <a:ln/>
          <a:effectLst>
            <a:outerShdw blurRad="76200" dist="25400" dir="2700000" algn="bl" rotWithShape="0">
              <a:srgbClr val="000000">
                <a:alpha val="10000"/>
              </a:srgbClr>
            </a:outerShdw>
          </a:effectLst>
        </p:spPr>
      </p:sp>
      <p:sp>
        <p:nvSpPr>
          <p:cNvPr id="8" name="Text 5"/>
          <p:cNvSpPr/>
          <p:nvPr/>
        </p:nvSpPr>
        <p:spPr>
          <a:xfrm>
            <a:off x="6309360" y="4663440"/>
            <a:ext cx="512064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Rule: y is positive → absolute value graph</a:t>
            </a:r>
            <a:endParaRPr lang="en-US" sz="1300" dirty="0"/>
          </a:p>
        </p:txBody>
      </p:sp>
      <p:sp>
        <p:nvSpPr>
          <p:cNvPr id="9" name="Text 6"/>
          <p:cNvSpPr/>
          <p:nvPr/>
        </p:nvSpPr>
        <p:spPr>
          <a:xfrm>
            <a:off x="6309360" y="5074920"/>
            <a:ext cx="5120640" cy="365760"/>
          </a:xfrm>
          <a:prstGeom prst="rect">
            <a:avLst/>
          </a:prstGeom>
          <a:noFill/>
          <a:ln/>
        </p:spPr>
        <p:txBody>
          <a:bodyPr wrap="square" rtlCol="0" anchor="ctr"/>
          <a:lstStyle/>
          <a:p>
            <a:pPr marL="0" indent="0">
              <a:buNone/>
            </a:pPr>
            <a:r>
              <a:rPr lang="en-US" sz="1250" dirty="0">
                <a:solidFill>
                  <a:srgbClr val="2B2B2B"/>
                </a:solidFill>
                <a:latin typeface="Calibri" pitchFamily="34" charset="0"/>
                <a:ea typeface="Calibri" pitchFamily="34" charset="-122"/>
                <a:cs typeface="Calibri" pitchFamily="34" charset="-120"/>
              </a:rPr>
              <a:t>Parts below the x-axis are mirrored (reflected) above it.</a:t>
            </a:r>
            <a:endParaRPr lang="en-US" sz="1250" dirty="0"/>
          </a:p>
        </p:txBody>
      </p:sp>
      <p:sp>
        <p:nvSpPr>
          <p:cNvPr id="10" name="Text 7"/>
          <p:cNvSpPr/>
          <p:nvPr/>
        </p:nvSpPr>
        <p:spPr>
          <a:xfrm>
            <a:off x="6309360" y="5440680"/>
            <a:ext cx="5120640" cy="320040"/>
          </a:xfrm>
          <a:prstGeom prst="rect">
            <a:avLst/>
          </a:prstGeom>
          <a:noFill/>
          <a:ln/>
        </p:spPr>
        <p:txBody>
          <a:bodyPr wrap="square" rtlCol="0" anchor="ctr"/>
          <a:lstStyle/>
          <a:p>
            <a:pPr marL="0" indent="0">
              <a:buNone/>
            </a:pPr>
            <a:r>
              <a:rPr lang="en-US" sz="1100" i="1" dirty="0">
                <a:solidFill>
                  <a:srgbClr val="5B7C8D"/>
                </a:solidFill>
                <a:latin typeface="Calibri" pitchFamily="34" charset="0"/>
                <a:ea typeface="Calibri" pitchFamily="34" charset="-122"/>
                <a:cs typeface="Calibri" pitchFamily="34" charset="-120"/>
              </a:rPr>
              <a:t>Minimum value is now 0; maximum value stays at 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9FD3E8"/>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713232"/>
            <a:ext cx="1097280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Summary: y = A sin(ax ± b) ± c</a:t>
            </a:r>
            <a:endParaRPr lang="en-US" sz="3000" dirty="0"/>
          </a:p>
        </p:txBody>
      </p:sp>
      <p:sp>
        <p:nvSpPr>
          <p:cNvPr id="4" name="Shape 2"/>
          <p:cNvSpPr/>
          <p:nvPr/>
        </p:nvSpPr>
        <p:spPr>
          <a:xfrm>
            <a:off x="548640" y="1691640"/>
            <a:ext cx="2139696" cy="2788920"/>
          </a:xfrm>
          <a:prstGeom prst="roundRect">
            <a:avLst>
              <a:gd name="adj" fmla="val 3419"/>
            </a:avLst>
          </a:prstGeom>
          <a:solidFill>
            <a:srgbClr val="1B2A54"/>
          </a:solidFill>
          <a:ln/>
          <a:effectLst>
            <a:outerShdw blurRad="101600" dist="38100" dir="5400000" algn="bl" rotWithShape="0">
              <a:srgbClr val="000000">
                <a:alpha val="25000"/>
              </a:srgbClr>
            </a:outerShdw>
          </a:effectLst>
        </p:spPr>
      </p:sp>
      <p:sp>
        <p:nvSpPr>
          <p:cNvPr id="5" name="Text 3"/>
          <p:cNvSpPr/>
          <p:nvPr/>
        </p:nvSpPr>
        <p:spPr>
          <a:xfrm>
            <a:off x="713232" y="1892808"/>
            <a:ext cx="1810512" cy="640080"/>
          </a:xfrm>
          <a:prstGeom prst="rect">
            <a:avLst/>
          </a:prstGeom>
          <a:noFill/>
          <a:ln/>
        </p:spPr>
        <p:txBody>
          <a:bodyPr wrap="square" rtlCol="0" anchor="t"/>
          <a:lstStyle/>
          <a:p>
            <a:pPr marL="0" indent="0">
              <a:buNone/>
            </a:pPr>
            <a:r>
              <a:rPr lang="en-US" sz="1500" b="1" dirty="0">
                <a:solidFill>
                  <a:srgbClr val="6FD0EE"/>
                </a:solidFill>
                <a:latin typeface="Cambria" pitchFamily="34" charset="0"/>
                <a:ea typeface="Cambria" pitchFamily="34" charset="-122"/>
                <a:cs typeface="Cambria" pitchFamily="34" charset="-120"/>
              </a:rPr>
              <a:t>a — Amplitude</a:t>
            </a:r>
            <a:endParaRPr lang="en-US" sz="1500" dirty="0"/>
          </a:p>
        </p:txBody>
      </p:sp>
      <p:sp>
        <p:nvSpPr>
          <p:cNvPr id="6" name="Text 4"/>
          <p:cNvSpPr/>
          <p:nvPr/>
        </p:nvSpPr>
        <p:spPr>
          <a:xfrm>
            <a:off x="713232" y="2560320"/>
            <a:ext cx="1810512" cy="1737360"/>
          </a:xfrm>
          <a:prstGeom prst="rect">
            <a:avLst/>
          </a:prstGeom>
          <a:noFill/>
          <a:ln/>
        </p:spPr>
        <p:txBody>
          <a:bodyPr wrap="square" rtlCol="0" anchor="t"/>
          <a:lstStyle/>
          <a:p>
            <a:pPr marL="0" indent="0">
              <a:lnSpc>
                <a:spcPct val="115000"/>
              </a:lnSpc>
              <a:buNone/>
            </a:pPr>
            <a:r>
              <a:rPr lang="en-US" sz="1100" dirty="0">
                <a:solidFill>
                  <a:srgbClr val="DCE9F0"/>
                </a:solidFill>
                <a:latin typeface="Calibri" pitchFamily="34" charset="0"/>
                <a:ea typeface="Calibri" pitchFamily="34" charset="-122"/>
                <a:cs typeface="Calibri" pitchFamily="34" charset="-120"/>
              </a:rPr>
              <a:t>Sets the max/min: max = A, min = -A. If A &lt; 0, the curve first falls instead of rising.</a:t>
            </a:r>
            <a:endParaRPr lang="en-US" sz="1100" dirty="0"/>
          </a:p>
        </p:txBody>
      </p:sp>
      <p:sp>
        <p:nvSpPr>
          <p:cNvPr id="7" name="Shape 5"/>
          <p:cNvSpPr/>
          <p:nvPr/>
        </p:nvSpPr>
        <p:spPr>
          <a:xfrm>
            <a:off x="2852928" y="1691640"/>
            <a:ext cx="2139696" cy="2788920"/>
          </a:xfrm>
          <a:prstGeom prst="roundRect">
            <a:avLst>
              <a:gd name="adj" fmla="val 3419"/>
            </a:avLst>
          </a:prstGeom>
          <a:solidFill>
            <a:srgbClr val="1B2A54"/>
          </a:solidFill>
          <a:ln/>
          <a:effectLst>
            <a:outerShdw blurRad="101600" dist="38100" dir="5400000" algn="bl" rotWithShape="0">
              <a:srgbClr val="000000">
                <a:alpha val="25000"/>
              </a:srgbClr>
            </a:outerShdw>
          </a:effectLst>
        </p:spPr>
      </p:sp>
      <p:sp>
        <p:nvSpPr>
          <p:cNvPr id="8" name="Text 6"/>
          <p:cNvSpPr/>
          <p:nvPr/>
        </p:nvSpPr>
        <p:spPr>
          <a:xfrm>
            <a:off x="3017520" y="1892808"/>
            <a:ext cx="1810512" cy="640080"/>
          </a:xfrm>
          <a:prstGeom prst="rect">
            <a:avLst/>
          </a:prstGeom>
          <a:noFill/>
          <a:ln/>
        </p:spPr>
        <p:txBody>
          <a:bodyPr wrap="square" rtlCol="0" anchor="t"/>
          <a:lstStyle/>
          <a:p>
            <a:pPr marL="0" indent="0">
              <a:buNone/>
            </a:pPr>
            <a:r>
              <a:rPr lang="en-US" sz="1500" b="1" dirty="0">
                <a:solidFill>
                  <a:srgbClr val="6FD0EE"/>
                </a:solidFill>
                <a:latin typeface="Cambria" pitchFamily="34" charset="0"/>
                <a:ea typeface="Cambria" pitchFamily="34" charset="-122"/>
                <a:cs typeface="Cambria" pitchFamily="34" charset="-120"/>
              </a:rPr>
              <a:t>b — Period</a:t>
            </a:r>
            <a:endParaRPr lang="en-US" sz="1500" dirty="0"/>
          </a:p>
        </p:txBody>
      </p:sp>
      <p:sp>
        <p:nvSpPr>
          <p:cNvPr id="9" name="Text 7"/>
          <p:cNvSpPr/>
          <p:nvPr/>
        </p:nvSpPr>
        <p:spPr>
          <a:xfrm>
            <a:off x="3017520" y="2560320"/>
            <a:ext cx="1810512" cy="1737360"/>
          </a:xfrm>
          <a:prstGeom prst="rect">
            <a:avLst/>
          </a:prstGeom>
          <a:noFill/>
          <a:ln/>
        </p:spPr>
        <p:txBody>
          <a:bodyPr wrap="square" rtlCol="0" anchor="t"/>
          <a:lstStyle/>
          <a:p>
            <a:pPr marL="0" indent="0">
              <a:lnSpc>
                <a:spcPct val="115000"/>
              </a:lnSpc>
              <a:buNone/>
            </a:pPr>
            <a:r>
              <a:rPr lang="en-US" sz="1100" dirty="0">
                <a:solidFill>
                  <a:srgbClr val="DCE9F0"/>
                </a:solidFill>
                <a:latin typeface="Calibri" pitchFamily="34" charset="0"/>
                <a:ea typeface="Calibri" pitchFamily="34" charset="-122"/>
                <a:cs typeface="Calibri" pitchFamily="34" charset="-120"/>
              </a:rPr>
              <a:t>Controls the wave's speed: T = 360° / a. Larger a means more repeats within 360°.</a:t>
            </a:r>
            <a:endParaRPr lang="en-US" sz="1100" dirty="0"/>
          </a:p>
        </p:txBody>
      </p:sp>
      <p:sp>
        <p:nvSpPr>
          <p:cNvPr id="10" name="Shape 8"/>
          <p:cNvSpPr/>
          <p:nvPr/>
        </p:nvSpPr>
        <p:spPr>
          <a:xfrm>
            <a:off x="5157216" y="1691640"/>
            <a:ext cx="2139696" cy="2788920"/>
          </a:xfrm>
          <a:prstGeom prst="roundRect">
            <a:avLst>
              <a:gd name="adj" fmla="val 3419"/>
            </a:avLst>
          </a:prstGeom>
          <a:solidFill>
            <a:srgbClr val="1B2A54"/>
          </a:solidFill>
          <a:ln/>
          <a:effectLst>
            <a:outerShdw blurRad="101600" dist="38100" dir="5400000" algn="bl" rotWithShape="0">
              <a:srgbClr val="000000">
                <a:alpha val="25000"/>
              </a:srgbClr>
            </a:outerShdw>
          </a:effectLst>
        </p:spPr>
      </p:sp>
      <p:sp>
        <p:nvSpPr>
          <p:cNvPr id="11" name="Text 9"/>
          <p:cNvSpPr/>
          <p:nvPr/>
        </p:nvSpPr>
        <p:spPr>
          <a:xfrm>
            <a:off x="5321808" y="1892808"/>
            <a:ext cx="1810512" cy="640080"/>
          </a:xfrm>
          <a:prstGeom prst="rect">
            <a:avLst/>
          </a:prstGeom>
          <a:noFill/>
          <a:ln/>
        </p:spPr>
        <p:txBody>
          <a:bodyPr wrap="square" rtlCol="0" anchor="t"/>
          <a:lstStyle/>
          <a:p>
            <a:pPr marL="0" indent="0">
              <a:buNone/>
            </a:pPr>
            <a:r>
              <a:rPr lang="en-US" sz="1500" b="1" dirty="0">
                <a:solidFill>
                  <a:srgbClr val="6FD0EE"/>
                </a:solidFill>
                <a:latin typeface="Cambria" pitchFamily="34" charset="0"/>
                <a:ea typeface="Cambria" pitchFamily="34" charset="-122"/>
                <a:cs typeface="Cambria" pitchFamily="34" charset="-120"/>
              </a:rPr>
              <a:t>c — Phase Shift</a:t>
            </a:r>
            <a:endParaRPr lang="en-US" sz="1500" dirty="0"/>
          </a:p>
        </p:txBody>
      </p:sp>
      <p:sp>
        <p:nvSpPr>
          <p:cNvPr id="12" name="Text 10"/>
          <p:cNvSpPr/>
          <p:nvPr/>
        </p:nvSpPr>
        <p:spPr>
          <a:xfrm>
            <a:off x="5321808" y="2560320"/>
            <a:ext cx="1810512" cy="1737360"/>
          </a:xfrm>
          <a:prstGeom prst="rect">
            <a:avLst/>
          </a:prstGeom>
          <a:noFill/>
          <a:ln/>
        </p:spPr>
        <p:txBody>
          <a:bodyPr wrap="square" rtlCol="0" anchor="t"/>
          <a:lstStyle/>
          <a:p>
            <a:pPr marL="0" indent="0">
              <a:lnSpc>
                <a:spcPct val="115000"/>
              </a:lnSpc>
              <a:buNone/>
            </a:pPr>
            <a:r>
              <a:rPr lang="en-US" sz="1100" dirty="0">
                <a:solidFill>
                  <a:srgbClr val="DCE9F0"/>
                </a:solidFill>
                <a:latin typeface="Calibri" pitchFamily="34" charset="0"/>
                <a:ea typeface="Calibri" pitchFamily="34" charset="-122"/>
                <a:cs typeface="Calibri" pitchFamily="34" charset="-120"/>
              </a:rPr>
              <a:t>Shifts the curve horizontally by b/a. (+b) moves it right, (-b) moves it left.</a:t>
            </a:r>
            <a:endParaRPr lang="en-US" sz="1100" dirty="0"/>
          </a:p>
        </p:txBody>
      </p:sp>
      <p:sp>
        <p:nvSpPr>
          <p:cNvPr id="13" name="Shape 11"/>
          <p:cNvSpPr/>
          <p:nvPr/>
        </p:nvSpPr>
        <p:spPr>
          <a:xfrm>
            <a:off x="7461504" y="1691640"/>
            <a:ext cx="2139696" cy="2788920"/>
          </a:xfrm>
          <a:prstGeom prst="roundRect">
            <a:avLst>
              <a:gd name="adj" fmla="val 3419"/>
            </a:avLst>
          </a:prstGeom>
          <a:solidFill>
            <a:srgbClr val="1B2A54"/>
          </a:solidFill>
          <a:ln/>
          <a:effectLst>
            <a:outerShdw blurRad="101600" dist="38100" dir="5400000" algn="bl" rotWithShape="0">
              <a:srgbClr val="000000">
                <a:alpha val="25000"/>
              </a:srgbClr>
            </a:outerShdw>
          </a:effectLst>
        </p:spPr>
      </p:sp>
      <p:sp>
        <p:nvSpPr>
          <p:cNvPr id="14" name="Text 12"/>
          <p:cNvSpPr/>
          <p:nvPr/>
        </p:nvSpPr>
        <p:spPr>
          <a:xfrm>
            <a:off x="7626096" y="1892808"/>
            <a:ext cx="1810512" cy="640080"/>
          </a:xfrm>
          <a:prstGeom prst="rect">
            <a:avLst/>
          </a:prstGeom>
          <a:noFill/>
          <a:ln/>
        </p:spPr>
        <p:txBody>
          <a:bodyPr wrap="square" rtlCol="0" anchor="t"/>
          <a:lstStyle/>
          <a:p>
            <a:pPr marL="0" indent="0">
              <a:buNone/>
            </a:pPr>
            <a:r>
              <a:rPr lang="en-US" sz="1500" b="1" dirty="0">
                <a:solidFill>
                  <a:srgbClr val="6FD0EE"/>
                </a:solidFill>
                <a:latin typeface="Cambria" pitchFamily="34" charset="0"/>
                <a:ea typeface="Cambria" pitchFamily="34" charset="-122"/>
                <a:cs typeface="Cambria" pitchFamily="34" charset="-120"/>
              </a:rPr>
              <a:t>d — Vertical Shift</a:t>
            </a:r>
            <a:endParaRPr lang="en-US" sz="1500" dirty="0"/>
          </a:p>
        </p:txBody>
      </p:sp>
      <p:sp>
        <p:nvSpPr>
          <p:cNvPr id="15" name="Text 13"/>
          <p:cNvSpPr/>
          <p:nvPr/>
        </p:nvSpPr>
        <p:spPr>
          <a:xfrm>
            <a:off x="7626096" y="2560320"/>
            <a:ext cx="1810512" cy="1737360"/>
          </a:xfrm>
          <a:prstGeom prst="rect">
            <a:avLst/>
          </a:prstGeom>
          <a:noFill/>
          <a:ln/>
        </p:spPr>
        <p:txBody>
          <a:bodyPr wrap="square" rtlCol="0" anchor="t"/>
          <a:lstStyle/>
          <a:p>
            <a:pPr marL="0" indent="0">
              <a:lnSpc>
                <a:spcPct val="115000"/>
              </a:lnSpc>
              <a:buNone/>
            </a:pPr>
            <a:r>
              <a:rPr lang="en-US" sz="1100" dirty="0">
                <a:solidFill>
                  <a:srgbClr val="DCE9F0"/>
                </a:solidFill>
                <a:latin typeface="Calibri" pitchFamily="34" charset="0"/>
                <a:ea typeface="Calibri" pitchFamily="34" charset="-122"/>
                <a:cs typeface="Calibri" pitchFamily="34" charset="-120"/>
              </a:rPr>
              <a:t>Moves the whole curve up or down by c units, without changing its shape.</a:t>
            </a:r>
            <a:endParaRPr lang="en-US" sz="1100" dirty="0"/>
          </a:p>
        </p:txBody>
      </p:sp>
      <p:sp>
        <p:nvSpPr>
          <p:cNvPr id="16" name="Shape 14"/>
          <p:cNvSpPr/>
          <p:nvPr/>
        </p:nvSpPr>
        <p:spPr>
          <a:xfrm>
            <a:off x="9765792" y="1691640"/>
            <a:ext cx="2139696" cy="2788920"/>
          </a:xfrm>
          <a:prstGeom prst="roundRect">
            <a:avLst>
              <a:gd name="adj" fmla="val 3419"/>
            </a:avLst>
          </a:prstGeom>
          <a:solidFill>
            <a:srgbClr val="1B2A54"/>
          </a:solidFill>
          <a:ln/>
          <a:effectLst>
            <a:outerShdw blurRad="101600" dist="38100" dir="5400000" algn="bl" rotWithShape="0">
              <a:srgbClr val="000000">
                <a:alpha val="25000"/>
              </a:srgbClr>
            </a:outerShdw>
          </a:effectLst>
        </p:spPr>
      </p:sp>
      <p:sp>
        <p:nvSpPr>
          <p:cNvPr id="17" name="Text 15"/>
          <p:cNvSpPr/>
          <p:nvPr/>
        </p:nvSpPr>
        <p:spPr>
          <a:xfrm>
            <a:off x="9930384" y="1892808"/>
            <a:ext cx="1810512" cy="640080"/>
          </a:xfrm>
          <a:prstGeom prst="rect">
            <a:avLst/>
          </a:prstGeom>
          <a:noFill/>
          <a:ln/>
        </p:spPr>
        <p:txBody>
          <a:bodyPr wrap="square" rtlCol="0" anchor="t"/>
          <a:lstStyle/>
          <a:p>
            <a:pPr algn="ctr"/>
            <a:r>
              <a:rPr lang="en-US" sz="1500" b="1" dirty="0">
                <a:solidFill>
                  <a:srgbClr val="6FD0EE"/>
                </a:solidFill>
                <a:latin typeface="Cambria" pitchFamily="34" charset="0"/>
                <a:ea typeface="Cambria" pitchFamily="34" charset="-122"/>
                <a:cs typeface="Cambria" pitchFamily="34" charset="-120"/>
              </a:rPr>
              <a:t>e — Absolute Value</a:t>
            </a:r>
            <a:endParaRPr lang="en-US" sz="1500" dirty="0"/>
          </a:p>
        </p:txBody>
      </p:sp>
      <p:sp>
        <p:nvSpPr>
          <p:cNvPr id="18" name="Text 16"/>
          <p:cNvSpPr/>
          <p:nvPr/>
        </p:nvSpPr>
        <p:spPr>
          <a:xfrm>
            <a:off x="9930384" y="2560320"/>
            <a:ext cx="1810512" cy="1737360"/>
          </a:xfrm>
          <a:prstGeom prst="rect">
            <a:avLst/>
          </a:prstGeom>
          <a:noFill/>
          <a:ln/>
        </p:spPr>
        <p:txBody>
          <a:bodyPr wrap="square" rtlCol="0" anchor="t"/>
          <a:lstStyle/>
          <a:p>
            <a:pPr marL="0" indent="0">
              <a:lnSpc>
                <a:spcPct val="115000"/>
              </a:lnSpc>
              <a:buNone/>
            </a:pPr>
            <a:r>
              <a:rPr lang="en-US" sz="1100" dirty="0">
                <a:solidFill>
                  <a:srgbClr val="DCE9F0"/>
                </a:solidFill>
                <a:latin typeface="Calibri" pitchFamily="34" charset="0"/>
                <a:ea typeface="Calibri" pitchFamily="34" charset="-122"/>
                <a:cs typeface="Calibri" pitchFamily="34" charset="-120"/>
              </a:rPr>
              <a:t>y = |...| reflects any part below the x-axis upward, so y is never negative.</a:t>
            </a:r>
            <a:endParaRPr lang="en-US" sz="1100" dirty="0"/>
          </a:p>
        </p:txBody>
      </p:sp>
      <p:sp>
        <p:nvSpPr>
          <p:cNvPr id="19" name="Shape 17"/>
          <p:cNvSpPr/>
          <p:nvPr/>
        </p:nvSpPr>
        <p:spPr>
          <a:xfrm>
            <a:off x="548640" y="4800600"/>
            <a:ext cx="11064240" cy="1417320"/>
          </a:xfrm>
          <a:prstGeom prst="roundRect">
            <a:avLst>
              <a:gd name="adj" fmla="val 5161"/>
            </a:avLst>
          </a:prstGeom>
          <a:solidFill>
            <a:srgbClr val="0F1A3D"/>
          </a:solidFill>
          <a:ln/>
        </p:spPr>
      </p:sp>
      <p:sp>
        <p:nvSpPr>
          <p:cNvPr id="20" name="Text 18"/>
          <p:cNvSpPr/>
          <p:nvPr/>
        </p:nvSpPr>
        <p:spPr>
          <a:xfrm>
            <a:off x="868680" y="4983480"/>
            <a:ext cx="10424160" cy="1097280"/>
          </a:xfrm>
          <a:prstGeom prst="rect">
            <a:avLst/>
          </a:prstGeom>
          <a:noFill/>
          <a:ln/>
        </p:spPr>
        <p:txBody>
          <a:bodyPr wrap="square" rtlCol="0" anchor="t"/>
          <a:lstStyle/>
          <a:p>
            <a:pPr marL="0" indent="0">
              <a:lnSpc>
                <a:spcPct val="125000"/>
              </a:lnSpc>
              <a:buNone/>
            </a:pPr>
            <a:r>
              <a:rPr lang="en-US" sz="1250" b="1" dirty="0">
                <a:solidFill>
                  <a:srgbClr val="6FD0EE"/>
                </a:solidFill>
                <a:latin typeface="Calibri" pitchFamily="34" charset="0"/>
                <a:ea typeface="Calibri" pitchFamily="34" charset="-122"/>
                <a:cs typeface="Calibri" pitchFamily="34" charset="-120"/>
              </a:rPr>
              <a:t>Key takeaway:  </a:t>
            </a:r>
            <a:r>
              <a:rPr lang="en-US" sz="1250" dirty="0">
                <a:solidFill>
                  <a:srgbClr val="DCE9F0"/>
                </a:solidFill>
                <a:latin typeface="Calibri" pitchFamily="34" charset="0"/>
                <a:ea typeface="Calibri" pitchFamily="34" charset="-122"/>
                <a:cs typeface="Calibri" pitchFamily="34" charset="-120"/>
              </a:rPr>
              <a:t>every sine graph, no matter how transformed, is built from the same simple wave. Amplitude and period fix its size and speed, phase shift and vertical shift move it around the plane, and the absolute value simply folds any negative part back up — master these five ideas and any y = A sin(ax ± b) ± c graph can be sketched with confidence.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TotalTime>
  <Words>1725</Words>
  <Application>Microsoft Office PowerPoint</Application>
  <PresentationFormat>Widescreen</PresentationFormat>
  <Paragraphs>266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Grafik Trigonometri</dc:title>
  <dc:subject>PptxGenJS Presentation</dc:subject>
  <dc:creator>Claude</dc:creator>
  <cp:lastModifiedBy>SBN0CV03Z091464@outlook.com</cp:lastModifiedBy>
  <cp:revision>3</cp:revision>
  <dcterms:created xsi:type="dcterms:W3CDTF">2026-07-05T08:25:46Z</dcterms:created>
  <dcterms:modified xsi:type="dcterms:W3CDTF">2026-07-06T10:06:38Z</dcterms:modified>
</cp:coreProperties>
</file>