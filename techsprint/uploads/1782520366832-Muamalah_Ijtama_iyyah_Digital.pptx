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embeddedFontLst>
    <p:embeddedFont>
      <p:font typeface="Lato" panose="020F0502020204030203" pitchFamily="34" charset="0"/>
      <p:regular r:id="rId15"/>
      <p:bold r:id="rId16"/>
      <p:italic r:id="rId17"/>
      <p:boldItalic r:id="rId18"/>
    </p:embeddedFont>
    <p:embeddedFont>
      <p:font typeface="Poppins" panose="00000500000000000000" pitchFamily="2" charset="0"/>
      <p:regular r:id="rId19"/>
      <p:bold r:id="rId20"/>
      <p:italic r:id="rId21"/>
      <p:boldItalic r:id="rId22"/>
    </p:embeddedFont>
    <p:embeddedFont>
      <p:font typeface="Poppins SemiBold" panose="020B0502040204020203"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0716" y="10716"/>
            <a:ext cx="12192000" cy="6858000"/>
          </a:xfrm>
          <a:prstGeom prst="rect">
            <a:avLst/>
          </a:prstGeom>
          <a:noFill/>
          <a:ln>
            <a:noFill/>
          </a:ln>
        </p:spPr>
      </p:pic>
      <p:sp>
        <p:nvSpPr>
          <p:cNvPr id="85" name="Google Shape;85;p13"/>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txBox="1"/>
          <p:nvPr/>
        </p:nvSpPr>
        <p:spPr>
          <a:xfrm>
            <a:off x="495300" y="3055141"/>
            <a:ext cx="11201400" cy="80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064E3B"/>
                </a:solidFill>
                <a:latin typeface="Poppins"/>
                <a:ea typeface="Poppins"/>
                <a:cs typeface="Poppins"/>
                <a:sym typeface="Poppins"/>
              </a:rPr>
              <a:t>Muamalah Ijtama'iyyah </a:t>
            </a:r>
            <a:r>
              <a:rPr lang="en-US" sz="5250" b="1" i="0" u="none" strike="noStrike" cap="none">
                <a:solidFill>
                  <a:srgbClr val="D97706"/>
                </a:solidFill>
                <a:latin typeface="Poppins"/>
                <a:ea typeface="Poppins"/>
                <a:cs typeface="Poppins"/>
                <a:sym typeface="Poppins"/>
              </a:rPr>
              <a:t>Digital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571500" y="2195512"/>
            <a:ext cx="5550693"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err="1">
                <a:solidFill>
                  <a:srgbClr val="064E3B"/>
                </a:solidFill>
                <a:latin typeface="Poppins SemiBold"/>
                <a:ea typeface="Poppins SemiBold"/>
                <a:cs typeface="Poppins SemiBold"/>
                <a:sym typeface="Poppins SemiBold"/>
              </a:rPr>
              <a:t>Kelompok</a:t>
            </a:r>
            <a:r>
              <a:rPr lang="en-US" sz="1950" b="1" i="0" u="none" strike="noStrike" cap="none" dirty="0">
                <a:solidFill>
                  <a:srgbClr val="064E3B"/>
                </a:solidFill>
                <a:latin typeface="Poppins SemiBold"/>
                <a:ea typeface="Poppins SemiBold"/>
                <a:cs typeface="Poppins SemiBold"/>
                <a:sym typeface="Poppins SemiBold"/>
              </a:rPr>
              <a:t> 11</a:t>
            </a:r>
            <a:endParaRPr dirty="0"/>
          </a:p>
        </p:txBody>
      </p:sp>
      <p:sp>
        <p:nvSpPr>
          <p:cNvPr id="96" name="Google Shape;96;p14"/>
          <p:cNvSpPr txBox="1"/>
          <p:nvPr/>
        </p:nvSpPr>
        <p:spPr>
          <a:xfrm>
            <a:off x="904875" y="2709862"/>
            <a:ext cx="4953000"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err="1">
                <a:solidFill>
                  <a:srgbClr val="1E293B"/>
                </a:solidFill>
                <a:latin typeface="Lato"/>
                <a:ea typeface="Lato"/>
                <a:cs typeface="Lato"/>
                <a:sym typeface="Lato"/>
              </a:rPr>
              <a:t>Sunardi</a:t>
            </a:r>
            <a:r>
              <a:rPr lang="en-US" sz="1350" b="1" i="0" u="none" strike="noStrike" cap="none" dirty="0">
                <a:solidFill>
                  <a:srgbClr val="1E293B"/>
                </a:solidFill>
                <a:latin typeface="Lato"/>
                <a:ea typeface="Lato"/>
                <a:cs typeface="Lato"/>
                <a:sym typeface="Lato"/>
              </a:rPr>
              <a:t> </a:t>
            </a:r>
            <a:r>
              <a:rPr lang="en-US" sz="1350" b="0" i="0" u="none" strike="noStrike" cap="none" dirty="0">
                <a:solidFill>
                  <a:srgbClr val="475569"/>
                </a:solidFill>
                <a:latin typeface="Lato"/>
                <a:ea typeface="Lato"/>
                <a:cs typeface="Lato"/>
                <a:sym typeface="Lato"/>
              </a:rPr>
              <a:t>NIM: 105821104125</a:t>
            </a:r>
            <a:endParaRPr dirty="0"/>
          </a:p>
        </p:txBody>
      </p:sp>
      <p:sp>
        <p:nvSpPr>
          <p:cNvPr id="97" name="Google Shape;97;p14"/>
          <p:cNvSpPr txBox="1"/>
          <p:nvPr/>
        </p:nvSpPr>
        <p:spPr>
          <a:xfrm>
            <a:off x="904875" y="3466058"/>
            <a:ext cx="4953000"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1E293B"/>
                </a:solidFill>
                <a:latin typeface="Lato"/>
                <a:ea typeface="Lato"/>
                <a:cs typeface="Lato"/>
                <a:sym typeface="Lato"/>
              </a:rPr>
              <a:t>Muhammad Fikri </a:t>
            </a:r>
            <a:r>
              <a:rPr lang="en-US" sz="1350" b="1" i="0" u="none" strike="noStrike" cap="none" dirty="0" err="1">
                <a:solidFill>
                  <a:srgbClr val="1E293B"/>
                </a:solidFill>
                <a:latin typeface="Lato"/>
                <a:ea typeface="Lato"/>
                <a:cs typeface="Lato"/>
                <a:sym typeface="Lato"/>
              </a:rPr>
              <a:t>Fahrezi</a:t>
            </a:r>
            <a:r>
              <a:rPr lang="en-US" sz="1350" b="1" i="0" u="none" strike="noStrike" cap="none" dirty="0">
                <a:solidFill>
                  <a:srgbClr val="1E293B"/>
                </a:solidFill>
                <a:latin typeface="Lato"/>
                <a:ea typeface="Lato"/>
                <a:cs typeface="Lato"/>
                <a:sym typeface="Lato"/>
              </a:rPr>
              <a:t> </a:t>
            </a:r>
            <a:r>
              <a:rPr lang="en-US" sz="1350" b="0" i="0" u="none" strike="noStrike" cap="none" dirty="0">
                <a:solidFill>
                  <a:srgbClr val="475569"/>
                </a:solidFill>
                <a:latin typeface="Lato"/>
                <a:ea typeface="Lato"/>
                <a:cs typeface="Lato"/>
                <a:sym typeface="Lato"/>
              </a:rPr>
              <a:t>NIM: 105841106925</a:t>
            </a:r>
            <a:endParaRPr dirty="0"/>
          </a:p>
        </p:txBody>
      </p:sp>
      <p:sp>
        <p:nvSpPr>
          <p:cNvPr id="98" name="Google Shape;98;p14"/>
          <p:cNvSpPr txBox="1"/>
          <p:nvPr/>
        </p:nvSpPr>
        <p:spPr>
          <a:xfrm>
            <a:off x="904875" y="4222253"/>
            <a:ext cx="4953000"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1E293B"/>
                </a:solidFill>
                <a:latin typeface="Lato"/>
                <a:ea typeface="Lato"/>
                <a:cs typeface="Lato"/>
                <a:sym typeface="Lato"/>
              </a:rPr>
              <a:t>Abdul Adi Manan </a:t>
            </a:r>
            <a:r>
              <a:rPr lang="en-US" sz="1350" b="0" i="0" u="none" strike="noStrike" cap="none" dirty="0">
                <a:solidFill>
                  <a:srgbClr val="475569"/>
                </a:solidFill>
                <a:latin typeface="Lato"/>
                <a:ea typeface="Lato"/>
                <a:cs typeface="Lato"/>
                <a:sym typeface="Lato"/>
              </a:rPr>
              <a:t>NIM: </a:t>
            </a:r>
            <a:endParaRPr dirty="0"/>
          </a:p>
        </p:txBody>
      </p:sp>
      <p:sp>
        <p:nvSpPr>
          <p:cNvPr id="99" name="Google Shape;99;p14"/>
          <p:cNvSpPr txBox="1"/>
          <p:nvPr/>
        </p:nvSpPr>
        <p:spPr>
          <a:xfrm>
            <a:off x="904875" y="4978449"/>
            <a:ext cx="4953000"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1E293B"/>
                </a:solidFill>
                <a:latin typeface="Lato"/>
                <a:ea typeface="Lato"/>
                <a:cs typeface="Lato"/>
                <a:sym typeface="Lato"/>
              </a:rPr>
              <a:t>Moh. </a:t>
            </a:r>
            <a:r>
              <a:rPr lang="en-US" sz="1350" b="1" i="0" u="none" strike="noStrike" cap="none" dirty="0" err="1">
                <a:solidFill>
                  <a:srgbClr val="1E293B"/>
                </a:solidFill>
                <a:latin typeface="Lato"/>
                <a:ea typeface="Lato"/>
                <a:cs typeface="Lato"/>
                <a:sym typeface="Lato"/>
              </a:rPr>
              <a:t>Jufri</a:t>
            </a:r>
            <a:r>
              <a:rPr lang="en-US" sz="1350" b="1" i="0" u="none" strike="noStrike" cap="none" dirty="0">
                <a:solidFill>
                  <a:srgbClr val="1E293B"/>
                </a:solidFill>
                <a:latin typeface="Lato"/>
                <a:ea typeface="Lato"/>
                <a:cs typeface="Lato"/>
                <a:sym typeface="Lato"/>
              </a:rPr>
              <a:t> </a:t>
            </a:r>
            <a:r>
              <a:rPr lang="en-US" sz="1350" b="0" i="0" u="none" strike="noStrike" cap="none" dirty="0">
                <a:solidFill>
                  <a:srgbClr val="475569"/>
                </a:solidFill>
                <a:latin typeface="Lato"/>
                <a:ea typeface="Lato"/>
                <a:cs typeface="Lato"/>
                <a:sym typeface="Lato"/>
              </a:rPr>
              <a:t>NIM: 105821104225</a:t>
            </a:r>
            <a:endParaRPr dirty="0"/>
          </a:p>
        </p:txBody>
      </p:sp>
      <p:sp>
        <p:nvSpPr>
          <p:cNvPr id="101" name="Google Shape;101;p14"/>
          <p:cNvSpPr txBox="1"/>
          <p:nvPr/>
        </p:nvSpPr>
        <p:spPr>
          <a:xfrm>
            <a:off x="571500" y="647700"/>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err="1">
                <a:solidFill>
                  <a:srgbClr val="064E3B"/>
                </a:solidFill>
                <a:latin typeface="Poppins"/>
                <a:ea typeface="Poppins"/>
                <a:cs typeface="Poppins"/>
                <a:sym typeface="Poppins"/>
              </a:rPr>
              <a:t>Disusun</a:t>
            </a:r>
            <a:r>
              <a:rPr lang="en-US" sz="3000" b="1" i="0" u="none" strike="noStrike" cap="none" dirty="0">
                <a:solidFill>
                  <a:srgbClr val="064E3B"/>
                </a:solidFill>
                <a:latin typeface="Poppins"/>
                <a:ea typeface="Poppins"/>
                <a:cs typeface="Poppins"/>
                <a:sym typeface="Poppins"/>
              </a:rPr>
              <a:t> Oleh</a:t>
            </a:r>
            <a:endParaRPr dirty="0"/>
          </a:p>
        </p:txBody>
      </p:sp>
      <p:sp>
        <p:nvSpPr>
          <p:cNvPr id="102" name="Google Shape;102;p14"/>
          <p:cNvSpPr/>
          <p:nvPr/>
        </p:nvSpPr>
        <p:spPr>
          <a:xfrm>
            <a:off x="571500" y="1314450"/>
            <a:ext cx="11049000" cy="2857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3" name="Google Shape;103;p14" descr="image.png"/>
          <p:cNvPicPr preferRelativeResize="0"/>
          <p:nvPr/>
        </p:nvPicPr>
        <p:blipFill rotWithShape="1">
          <a:blip r:embed="rId4">
            <a:alphaModFix/>
          </a:blip>
          <a:srcRect/>
          <a:stretch/>
        </p:blipFill>
        <p:spPr>
          <a:xfrm>
            <a:off x="571500" y="2783776"/>
            <a:ext cx="171450" cy="200025"/>
          </a:xfrm>
          <a:prstGeom prst="rect">
            <a:avLst/>
          </a:prstGeom>
          <a:noFill/>
          <a:ln>
            <a:noFill/>
          </a:ln>
        </p:spPr>
      </p:pic>
      <p:pic>
        <p:nvPicPr>
          <p:cNvPr id="104" name="Google Shape;104;p14" descr="image.png"/>
          <p:cNvPicPr preferRelativeResize="0"/>
          <p:nvPr/>
        </p:nvPicPr>
        <p:blipFill rotWithShape="1">
          <a:blip r:embed="rId4">
            <a:alphaModFix/>
          </a:blip>
          <a:srcRect/>
          <a:stretch/>
        </p:blipFill>
        <p:spPr>
          <a:xfrm>
            <a:off x="571500" y="3539972"/>
            <a:ext cx="171450" cy="200025"/>
          </a:xfrm>
          <a:prstGeom prst="rect">
            <a:avLst/>
          </a:prstGeom>
          <a:noFill/>
          <a:ln>
            <a:noFill/>
          </a:ln>
        </p:spPr>
      </p:pic>
      <p:pic>
        <p:nvPicPr>
          <p:cNvPr id="105" name="Google Shape;105;p14" descr="image.png"/>
          <p:cNvPicPr preferRelativeResize="0"/>
          <p:nvPr/>
        </p:nvPicPr>
        <p:blipFill rotWithShape="1">
          <a:blip r:embed="rId4">
            <a:alphaModFix/>
          </a:blip>
          <a:srcRect/>
          <a:stretch/>
        </p:blipFill>
        <p:spPr>
          <a:xfrm>
            <a:off x="571500" y="4296167"/>
            <a:ext cx="171450" cy="200025"/>
          </a:xfrm>
          <a:prstGeom prst="rect">
            <a:avLst/>
          </a:prstGeom>
          <a:noFill/>
          <a:ln>
            <a:noFill/>
          </a:ln>
        </p:spPr>
      </p:pic>
      <p:pic>
        <p:nvPicPr>
          <p:cNvPr id="106" name="Google Shape;106;p14" descr="image.png"/>
          <p:cNvPicPr preferRelativeResize="0"/>
          <p:nvPr/>
        </p:nvPicPr>
        <p:blipFill rotWithShape="1">
          <a:blip r:embed="rId4">
            <a:alphaModFix/>
          </a:blip>
          <a:srcRect/>
          <a:stretch/>
        </p:blipFill>
        <p:spPr>
          <a:xfrm>
            <a:off x="571500" y="5052363"/>
            <a:ext cx="171450" cy="2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2" name="Google Shape;92;p14"/>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4"/>
          <p:cNvSpPr/>
          <p:nvPr/>
        </p:nvSpPr>
        <p:spPr>
          <a:xfrm>
            <a:off x="5619750" y="2751832"/>
            <a:ext cx="952500" cy="4762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4"/>
          <p:cNvSpPr txBox="1"/>
          <p:nvPr/>
        </p:nvSpPr>
        <p:spPr>
          <a:xfrm>
            <a:off x="4000738" y="3085207"/>
            <a:ext cx="4190523"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064E3B"/>
                </a:solidFill>
                <a:latin typeface="Poppins"/>
                <a:ea typeface="Poppins"/>
                <a:cs typeface="Poppins"/>
                <a:sym typeface="Poppins"/>
              </a:rPr>
              <a:t>Pendahuluan</a:t>
            </a:r>
            <a:endParaRPr/>
          </a:p>
        </p:txBody>
      </p:sp>
      <p:sp>
        <p:nvSpPr>
          <p:cNvPr id="95" name="Google Shape;95;p14"/>
          <p:cNvSpPr txBox="1"/>
          <p:nvPr/>
        </p:nvSpPr>
        <p:spPr>
          <a:xfrm>
            <a:off x="3671887" y="4132957"/>
            <a:ext cx="4848225"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475569"/>
                </a:solidFill>
                <a:latin typeface="Lato"/>
                <a:ea typeface="Lato"/>
                <a:cs typeface="Lato"/>
                <a:sym typeface="Lato"/>
              </a:rPr>
              <a:t>Latar Belakang &amp; Tantangan Muamalah di Era Modern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1" name="Google Shape;101;p15" descr="image.png"/>
          <p:cNvPicPr preferRelativeResize="0"/>
          <p:nvPr/>
        </p:nvPicPr>
        <p:blipFill rotWithShape="1">
          <a:blip r:embed="rId4">
            <a:alphaModFix/>
          </a:blip>
          <a:srcRect/>
          <a:stretch/>
        </p:blipFill>
        <p:spPr>
          <a:xfrm>
            <a:off x="6334125" y="2195512"/>
            <a:ext cx="5286375" cy="3619500"/>
          </a:xfrm>
          <a:prstGeom prst="rect">
            <a:avLst/>
          </a:prstGeom>
          <a:noFill/>
          <a:ln>
            <a:noFill/>
          </a:ln>
        </p:spPr>
      </p:pic>
      <p:sp>
        <p:nvSpPr>
          <p:cNvPr id="102" name="Google Shape;102;p15"/>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5"/>
          <p:cNvSpPr txBox="1"/>
          <p:nvPr/>
        </p:nvSpPr>
        <p:spPr>
          <a:xfrm>
            <a:off x="904875" y="2195512"/>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Lato"/>
                <a:ea typeface="Lato"/>
                <a:cs typeface="Lato"/>
                <a:sym typeface="Lato"/>
              </a:rPr>
              <a:t>Perkembangan Teknologi:</a:t>
            </a:r>
            <a:r>
              <a:rPr lang="en-US" sz="1350" b="0" i="0" u="none" strike="noStrike" cap="none">
                <a:solidFill>
                  <a:srgbClr val="475569"/>
                </a:solidFill>
                <a:latin typeface="Lato"/>
                <a:ea typeface="Lato"/>
                <a:cs typeface="Lato"/>
                <a:sym typeface="Lato"/>
              </a:rPr>
              <a:t> Interaksi dan transaksi ekonomi kini terfasilitasi tanpa batas ruang dan waktu.</a:t>
            </a:r>
            <a:endParaRPr/>
          </a:p>
        </p:txBody>
      </p:sp>
      <p:sp>
        <p:nvSpPr>
          <p:cNvPr id="104" name="Google Shape;104;p15"/>
          <p:cNvSpPr txBox="1"/>
          <p:nvPr/>
        </p:nvSpPr>
        <p:spPr>
          <a:xfrm>
            <a:off x="904875" y="2982217"/>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Lato"/>
                <a:ea typeface="Lato"/>
                <a:cs typeface="Lato"/>
                <a:sym typeface="Lato"/>
              </a:rPr>
              <a:t>Transformasi Digital:</a:t>
            </a:r>
            <a:r>
              <a:rPr lang="en-US" sz="1350" b="0" i="0" u="none" strike="noStrike" cap="none">
                <a:solidFill>
                  <a:srgbClr val="475569"/>
                </a:solidFill>
                <a:latin typeface="Lato"/>
                <a:ea typeface="Lato"/>
                <a:cs typeface="Lato"/>
                <a:sym typeface="Lato"/>
              </a:rPr>
              <a:t> Muamalah bertransformasi melalui wadah e-commerce, fintech, dan media sosial.</a:t>
            </a:r>
            <a:endParaRPr/>
          </a:p>
        </p:txBody>
      </p:sp>
      <p:sp>
        <p:nvSpPr>
          <p:cNvPr id="105" name="Google Shape;105;p15"/>
          <p:cNvSpPr txBox="1"/>
          <p:nvPr/>
        </p:nvSpPr>
        <p:spPr>
          <a:xfrm>
            <a:off x="904875" y="3768923"/>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Lato"/>
                <a:ea typeface="Lato"/>
                <a:cs typeface="Lato"/>
                <a:sym typeface="Lato"/>
              </a:rPr>
              <a:t>Tantangan Baru:</a:t>
            </a:r>
            <a:r>
              <a:rPr lang="en-US" sz="1350" b="0" i="0" u="none" strike="noStrike" cap="none">
                <a:solidFill>
                  <a:srgbClr val="475569"/>
                </a:solidFill>
                <a:latin typeface="Lato"/>
                <a:ea typeface="Lato"/>
                <a:cs typeface="Lato"/>
                <a:sym typeface="Lato"/>
              </a:rPr>
              <a:t> Munculnya potensi penipuan, ketidakjelasan akad, dan praktik riba secara online.</a:t>
            </a:r>
            <a:endParaRPr/>
          </a:p>
        </p:txBody>
      </p:sp>
      <p:sp>
        <p:nvSpPr>
          <p:cNvPr id="106" name="Google Shape;106;p15"/>
          <p:cNvSpPr txBox="1"/>
          <p:nvPr/>
        </p:nvSpPr>
        <p:spPr>
          <a:xfrm>
            <a:off x="904875" y="4555628"/>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Lato"/>
                <a:ea typeface="Lato"/>
                <a:cs typeface="Lato"/>
                <a:sym typeface="Lato"/>
              </a:rPr>
              <a:t>Solusi Utama:</a:t>
            </a:r>
            <a:r>
              <a:rPr lang="en-US" sz="1350" b="0" i="0" u="none" strike="noStrike" cap="none">
                <a:solidFill>
                  <a:srgbClr val="475569"/>
                </a:solidFill>
                <a:latin typeface="Lato"/>
                <a:ea typeface="Lato"/>
                <a:cs typeface="Lato"/>
                <a:sym typeface="Lato"/>
              </a:rPr>
              <a:t> Diperlukan penerapan prinsip keadilan, transparansi, dan kehalalan sesuai dengan pedoman syariat Islam.</a:t>
            </a:r>
            <a:endParaRPr/>
          </a:p>
        </p:txBody>
      </p:sp>
      <p:pic>
        <p:nvPicPr>
          <p:cNvPr id="107" name="Google Shape;107;p15" descr="image.png"/>
          <p:cNvPicPr preferRelativeResize="0"/>
          <p:nvPr/>
        </p:nvPicPr>
        <p:blipFill rotWithShape="1">
          <a:blip r:embed="rId5">
            <a:alphaModFix/>
          </a:blip>
          <a:srcRect/>
          <a:stretch/>
        </p:blipFill>
        <p:spPr>
          <a:xfrm>
            <a:off x="6372225" y="2233612"/>
            <a:ext cx="5210175" cy="3543300"/>
          </a:xfrm>
          <a:prstGeom prst="rect">
            <a:avLst/>
          </a:prstGeom>
          <a:noFill/>
          <a:ln>
            <a:noFill/>
          </a:ln>
        </p:spPr>
      </p:pic>
      <p:sp>
        <p:nvSpPr>
          <p:cNvPr id="108" name="Google Shape;108;p15"/>
          <p:cNvSpPr txBox="1"/>
          <p:nvPr/>
        </p:nvSpPr>
        <p:spPr>
          <a:xfrm>
            <a:off x="571500" y="6477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64E3B"/>
                </a:solidFill>
                <a:latin typeface="Poppins"/>
                <a:ea typeface="Poppins"/>
                <a:cs typeface="Poppins"/>
                <a:sym typeface="Poppins"/>
              </a:rPr>
              <a:t>Latar Belakang</a:t>
            </a:r>
            <a:endParaRPr/>
          </a:p>
        </p:txBody>
      </p:sp>
      <p:sp>
        <p:nvSpPr>
          <p:cNvPr id="109" name="Google Shape;109;p15"/>
          <p:cNvSpPr/>
          <p:nvPr/>
        </p:nvSpPr>
        <p:spPr>
          <a:xfrm>
            <a:off x="571500" y="1314450"/>
            <a:ext cx="11049000" cy="2857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0" name="Google Shape;110;p15" descr="image.png"/>
          <p:cNvPicPr preferRelativeResize="0"/>
          <p:nvPr/>
        </p:nvPicPr>
        <p:blipFill rotWithShape="1">
          <a:blip r:embed="rId6">
            <a:alphaModFix/>
          </a:blip>
          <a:srcRect/>
          <a:stretch/>
        </p:blipFill>
        <p:spPr>
          <a:xfrm>
            <a:off x="571500" y="2214562"/>
            <a:ext cx="190500" cy="200025"/>
          </a:xfrm>
          <a:prstGeom prst="rect">
            <a:avLst/>
          </a:prstGeom>
          <a:noFill/>
          <a:ln>
            <a:noFill/>
          </a:ln>
        </p:spPr>
      </p:pic>
      <p:pic>
        <p:nvPicPr>
          <p:cNvPr id="111" name="Google Shape;111;p15" descr="image.png"/>
          <p:cNvPicPr preferRelativeResize="0"/>
          <p:nvPr/>
        </p:nvPicPr>
        <p:blipFill rotWithShape="1">
          <a:blip r:embed="rId6">
            <a:alphaModFix/>
          </a:blip>
          <a:srcRect/>
          <a:stretch/>
        </p:blipFill>
        <p:spPr>
          <a:xfrm>
            <a:off x="571500" y="3001267"/>
            <a:ext cx="190500" cy="200025"/>
          </a:xfrm>
          <a:prstGeom prst="rect">
            <a:avLst/>
          </a:prstGeom>
          <a:noFill/>
          <a:ln>
            <a:noFill/>
          </a:ln>
        </p:spPr>
      </p:pic>
      <p:pic>
        <p:nvPicPr>
          <p:cNvPr id="112" name="Google Shape;112;p15" descr="image.png"/>
          <p:cNvPicPr preferRelativeResize="0"/>
          <p:nvPr/>
        </p:nvPicPr>
        <p:blipFill rotWithShape="1">
          <a:blip r:embed="rId6">
            <a:alphaModFix/>
          </a:blip>
          <a:srcRect/>
          <a:stretch/>
        </p:blipFill>
        <p:spPr>
          <a:xfrm>
            <a:off x="571500" y="3787973"/>
            <a:ext cx="190500" cy="200025"/>
          </a:xfrm>
          <a:prstGeom prst="rect">
            <a:avLst/>
          </a:prstGeom>
          <a:noFill/>
          <a:ln>
            <a:noFill/>
          </a:ln>
        </p:spPr>
      </p:pic>
      <p:pic>
        <p:nvPicPr>
          <p:cNvPr id="113" name="Google Shape;113;p15" descr="image.png"/>
          <p:cNvPicPr preferRelativeResize="0"/>
          <p:nvPr/>
        </p:nvPicPr>
        <p:blipFill rotWithShape="1">
          <a:blip r:embed="rId6">
            <a:alphaModFix/>
          </a:blip>
          <a:srcRect/>
          <a:stretch/>
        </p:blipFill>
        <p:spPr>
          <a:xfrm>
            <a:off x="571500" y="4574678"/>
            <a:ext cx="190500"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7"/>
        <p:cNvGrpSpPr/>
        <p:nvPr/>
      </p:nvGrpSpPr>
      <p:grpSpPr>
        <a:xfrm>
          <a:off x="0" y="0"/>
          <a:ext cx="0" cy="0"/>
          <a:chOff x="0" y="0"/>
          <a:chExt cx="0" cy="0"/>
        </a:xfrm>
      </p:grpSpPr>
      <p:pic>
        <p:nvPicPr>
          <p:cNvPr id="118" name="Google Shape;11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9" name="Google Shape;119;p16"/>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6"/>
          <p:cNvSpPr/>
          <p:nvPr/>
        </p:nvSpPr>
        <p:spPr>
          <a:xfrm>
            <a:off x="5619750" y="2751832"/>
            <a:ext cx="952500" cy="4762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6"/>
          <p:cNvSpPr txBox="1"/>
          <p:nvPr/>
        </p:nvSpPr>
        <p:spPr>
          <a:xfrm>
            <a:off x="1535430" y="3085207"/>
            <a:ext cx="9121140"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064E3B"/>
                </a:solidFill>
                <a:latin typeface="Poppins"/>
                <a:ea typeface="Poppins"/>
                <a:cs typeface="Poppins"/>
                <a:sym typeface="Poppins"/>
              </a:rPr>
              <a:t>Etika &amp; Adab Bermedia Sosial</a:t>
            </a:r>
            <a:endParaRPr/>
          </a:p>
        </p:txBody>
      </p:sp>
      <p:sp>
        <p:nvSpPr>
          <p:cNvPr id="122" name="Google Shape;122;p16"/>
          <p:cNvSpPr txBox="1"/>
          <p:nvPr/>
        </p:nvSpPr>
        <p:spPr>
          <a:xfrm>
            <a:off x="3300425" y="4132950"/>
            <a:ext cx="5625600" cy="2541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475569"/>
                </a:solidFill>
                <a:latin typeface="Lato"/>
                <a:ea typeface="Lato"/>
                <a:cs typeface="Lato"/>
                <a:sym typeface="Lato"/>
              </a:rPr>
              <a:t>Menjaga Hubungan Sosial Sesuai Syariat di Dunia</a:t>
            </a:r>
            <a:r>
              <a:rPr lang="en-US" sz="1650">
                <a:solidFill>
                  <a:srgbClr val="475569"/>
                </a:solidFill>
                <a:latin typeface="Lato"/>
                <a:ea typeface="Lato"/>
                <a:cs typeface="Lato"/>
                <a:sym typeface="Lato"/>
              </a:rPr>
              <a:t> </a:t>
            </a:r>
            <a:r>
              <a:rPr lang="en-US" sz="1650" b="0" i="0" u="none" strike="noStrike" cap="none">
                <a:solidFill>
                  <a:srgbClr val="475569"/>
                </a:solidFill>
                <a:latin typeface="Lato"/>
                <a:ea typeface="Lato"/>
                <a:cs typeface="Lato"/>
                <a:sym typeface="Lato"/>
              </a:rPr>
              <a:t>Maya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pic>
        <p:nvPicPr>
          <p:cNvPr id="127" name="Google Shape;12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8" name="Google Shape;128;p17" descr="image.png"/>
          <p:cNvPicPr preferRelativeResize="0"/>
          <p:nvPr/>
        </p:nvPicPr>
        <p:blipFill rotWithShape="1">
          <a:blip r:embed="rId4">
            <a:alphaModFix/>
          </a:blip>
          <a:srcRect/>
          <a:stretch/>
        </p:blipFill>
        <p:spPr>
          <a:xfrm>
            <a:off x="571500" y="2404169"/>
            <a:ext cx="3429000" cy="3202185"/>
          </a:xfrm>
          <a:prstGeom prst="rect">
            <a:avLst/>
          </a:prstGeom>
          <a:noFill/>
          <a:ln>
            <a:noFill/>
          </a:ln>
        </p:spPr>
      </p:pic>
      <p:pic>
        <p:nvPicPr>
          <p:cNvPr id="129" name="Google Shape;129;p17" descr="image.png"/>
          <p:cNvPicPr preferRelativeResize="0"/>
          <p:nvPr/>
        </p:nvPicPr>
        <p:blipFill rotWithShape="1">
          <a:blip r:embed="rId5">
            <a:alphaModFix/>
          </a:blip>
          <a:srcRect/>
          <a:stretch/>
        </p:blipFill>
        <p:spPr>
          <a:xfrm>
            <a:off x="4381500" y="2404169"/>
            <a:ext cx="3429000" cy="3202185"/>
          </a:xfrm>
          <a:prstGeom prst="rect">
            <a:avLst/>
          </a:prstGeom>
          <a:noFill/>
          <a:ln>
            <a:noFill/>
          </a:ln>
        </p:spPr>
      </p:pic>
      <p:pic>
        <p:nvPicPr>
          <p:cNvPr id="130" name="Google Shape;130;p17" descr="image.png"/>
          <p:cNvPicPr preferRelativeResize="0"/>
          <p:nvPr/>
        </p:nvPicPr>
        <p:blipFill rotWithShape="1">
          <a:blip r:embed="rId5">
            <a:alphaModFix/>
          </a:blip>
          <a:srcRect/>
          <a:stretch/>
        </p:blipFill>
        <p:spPr>
          <a:xfrm>
            <a:off x="8191500" y="2404169"/>
            <a:ext cx="3429000" cy="3202185"/>
          </a:xfrm>
          <a:prstGeom prst="rect">
            <a:avLst/>
          </a:prstGeom>
          <a:noFill/>
          <a:ln>
            <a:noFill/>
          </a:ln>
        </p:spPr>
      </p:pic>
      <p:sp>
        <p:nvSpPr>
          <p:cNvPr id="131" name="Google Shape;131;p17"/>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7"/>
          <p:cNvSpPr txBox="1"/>
          <p:nvPr/>
        </p:nvSpPr>
        <p:spPr>
          <a:xfrm>
            <a:off x="1220866" y="3480494"/>
            <a:ext cx="2130266"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64E3B"/>
                </a:solidFill>
                <a:latin typeface="Poppins SemiBold"/>
                <a:ea typeface="Poppins SemiBold"/>
                <a:cs typeface="Poppins SemiBold"/>
                <a:sym typeface="Poppins SemiBold"/>
              </a:rPr>
              <a:t>Sopan &amp; Santun</a:t>
            </a:r>
            <a:endParaRPr/>
          </a:p>
        </p:txBody>
      </p:sp>
      <p:sp>
        <p:nvSpPr>
          <p:cNvPr id="133" name="Google Shape;133;p17"/>
          <p:cNvSpPr txBox="1"/>
          <p:nvPr/>
        </p:nvSpPr>
        <p:spPr>
          <a:xfrm>
            <a:off x="819150" y="3994844"/>
            <a:ext cx="2933700"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Wajib menghindari ujaran kebencian, tidak merendahkan orang lain, dan tidak membuka aib sesama pengguna.</a:t>
            </a:r>
            <a:endParaRPr/>
          </a:p>
        </p:txBody>
      </p:sp>
      <p:sp>
        <p:nvSpPr>
          <p:cNvPr id="134" name="Google Shape;134;p17"/>
          <p:cNvSpPr txBox="1"/>
          <p:nvPr/>
        </p:nvSpPr>
        <p:spPr>
          <a:xfrm>
            <a:off x="5415915" y="3480494"/>
            <a:ext cx="1360170"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64E3B"/>
                </a:solidFill>
                <a:latin typeface="Poppins SemiBold"/>
                <a:ea typeface="Poppins SemiBold"/>
                <a:cs typeface="Poppins SemiBold"/>
                <a:sym typeface="Poppins SemiBold"/>
              </a:rPr>
              <a:t>Tabayyun</a:t>
            </a:r>
            <a:endParaRPr/>
          </a:p>
        </p:txBody>
      </p:sp>
      <p:sp>
        <p:nvSpPr>
          <p:cNvPr id="135" name="Google Shape;135;p17"/>
          <p:cNvSpPr txBox="1"/>
          <p:nvPr/>
        </p:nvSpPr>
        <p:spPr>
          <a:xfrm>
            <a:off x="4629150" y="3994844"/>
            <a:ext cx="2933700"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Memeriksa kebenaran suatu informasi secara teliti sebelum menyebarkannya untuk menghindari hoaks dan fitnah.</a:t>
            </a:r>
            <a:endParaRPr/>
          </a:p>
        </p:txBody>
      </p:sp>
      <p:sp>
        <p:nvSpPr>
          <p:cNvPr id="136" name="Google Shape;136;p17"/>
          <p:cNvSpPr txBox="1"/>
          <p:nvPr/>
        </p:nvSpPr>
        <p:spPr>
          <a:xfrm>
            <a:off x="9290923" y="3480494"/>
            <a:ext cx="1230153"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64E3B"/>
                </a:solidFill>
                <a:latin typeface="Poppins SemiBold"/>
                <a:ea typeface="Poppins SemiBold"/>
                <a:cs typeface="Poppins SemiBold"/>
                <a:sym typeface="Poppins SemiBold"/>
              </a:rPr>
              <a:t>Toleransi</a:t>
            </a:r>
            <a:endParaRPr/>
          </a:p>
        </p:txBody>
      </p:sp>
      <p:sp>
        <p:nvSpPr>
          <p:cNvPr id="137" name="Google Shape;137;p17"/>
          <p:cNvSpPr txBox="1"/>
          <p:nvPr/>
        </p:nvSpPr>
        <p:spPr>
          <a:xfrm>
            <a:off x="8439150" y="3994844"/>
            <a:ext cx="293370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Menghormati perbedaan pendapat dan senantiasa menjunjung tinggi keharmonisan dalam kehidupan bermasyarakat virtual.</a:t>
            </a:r>
            <a:endParaRPr/>
          </a:p>
        </p:txBody>
      </p:sp>
      <p:pic>
        <p:nvPicPr>
          <p:cNvPr id="138" name="Google Shape;138;p17" descr="image.png"/>
          <p:cNvPicPr preferRelativeResize="0"/>
          <p:nvPr/>
        </p:nvPicPr>
        <p:blipFill rotWithShape="1">
          <a:blip r:embed="rId6">
            <a:alphaModFix/>
          </a:blip>
          <a:srcRect/>
          <a:stretch/>
        </p:blipFill>
        <p:spPr>
          <a:xfrm>
            <a:off x="2057400" y="2794694"/>
            <a:ext cx="457200" cy="457200"/>
          </a:xfrm>
          <a:prstGeom prst="rect">
            <a:avLst/>
          </a:prstGeom>
          <a:noFill/>
          <a:ln>
            <a:noFill/>
          </a:ln>
        </p:spPr>
      </p:pic>
      <p:pic>
        <p:nvPicPr>
          <p:cNvPr id="139" name="Google Shape;139;p17" descr="image.png"/>
          <p:cNvPicPr preferRelativeResize="0"/>
          <p:nvPr/>
        </p:nvPicPr>
        <p:blipFill rotWithShape="1">
          <a:blip r:embed="rId7">
            <a:alphaModFix/>
          </a:blip>
          <a:srcRect/>
          <a:stretch/>
        </p:blipFill>
        <p:spPr>
          <a:xfrm>
            <a:off x="5867400" y="2794694"/>
            <a:ext cx="457200" cy="457200"/>
          </a:xfrm>
          <a:prstGeom prst="rect">
            <a:avLst/>
          </a:prstGeom>
          <a:noFill/>
          <a:ln>
            <a:noFill/>
          </a:ln>
        </p:spPr>
      </p:pic>
      <p:pic>
        <p:nvPicPr>
          <p:cNvPr id="140" name="Google Shape;140;p17" descr="image.png"/>
          <p:cNvPicPr preferRelativeResize="0"/>
          <p:nvPr/>
        </p:nvPicPr>
        <p:blipFill rotWithShape="1">
          <a:blip r:embed="rId8">
            <a:alphaModFix/>
          </a:blip>
          <a:srcRect/>
          <a:stretch/>
        </p:blipFill>
        <p:spPr>
          <a:xfrm>
            <a:off x="9620250" y="2794694"/>
            <a:ext cx="571500" cy="457200"/>
          </a:xfrm>
          <a:prstGeom prst="rect">
            <a:avLst/>
          </a:prstGeom>
          <a:noFill/>
          <a:ln>
            <a:noFill/>
          </a:ln>
        </p:spPr>
      </p:pic>
      <p:sp>
        <p:nvSpPr>
          <p:cNvPr id="141" name="Google Shape;141;p17"/>
          <p:cNvSpPr txBox="1"/>
          <p:nvPr/>
        </p:nvSpPr>
        <p:spPr>
          <a:xfrm>
            <a:off x="571500" y="6477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64E3B"/>
                </a:solidFill>
                <a:latin typeface="Poppins"/>
                <a:ea typeface="Poppins"/>
                <a:cs typeface="Poppins"/>
                <a:sym typeface="Poppins"/>
              </a:rPr>
              <a:t>Prinsip Bermedia Sosial</a:t>
            </a:r>
            <a:endParaRPr/>
          </a:p>
        </p:txBody>
      </p:sp>
      <p:sp>
        <p:nvSpPr>
          <p:cNvPr id="142" name="Google Shape;142;p17"/>
          <p:cNvSpPr/>
          <p:nvPr/>
        </p:nvSpPr>
        <p:spPr>
          <a:xfrm>
            <a:off x="571500" y="1314450"/>
            <a:ext cx="11049000" cy="2857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8"/>
          <p:cNvSpPr/>
          <p:nvPr/>
        </p:nvSpPr>
        <p:spPr>
          <a:xfrm>
            <a:off x="5619750" y="2751832"/>
            <a:ext cx="952500" cy="4762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8"/>
          <p:cNvSpPr txBox="1"/>
          <p:nvPr/>
        </p:nvSpPr>
        <p:spPr>
          <a:xfrm>
            <a:off x="1190386" y="3085207"/>
            <a:ext cx="9811226" cy="857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064E3B"/>
                </a:solidFill>
                <a:latin typeface="Poppins"/>
                <a:ea typeface="Poppins"/>
                <a:cs typeface="Poppins"/>
                <a:sym typeface="Poppins"/>
              </a:rPr>
              <a:t>Transaksi Online Sesuai Syariat</a:t>
            </a:r>
            <a:endParaRPr/>
          </a:p>
        </p:txBody>
      </p:sp>
      <p:sp>
        <p:nvSpPr>
          <p:cNvPr id="151" name="Google Shape;151;p18"/>
          <p:cNvSpPr txBox="1"/>
          <p:nvPr/>
        </p:nvSpPr>
        <p:spPr>
          <a:xfrm>
            <a:off x="3709987" y="4132957"/>
            <a:ext cx="4772025"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475569"/>
                </a:solidFill>
                <a:latin typeface="Lato"/>
                <a:ea typeface="Lato"/>
                <a:cs typeface="Lato"/>
                <a:sym typeface="Lato"/>
              </a:rPr>
              <a:t>Membangun Ekosistem Jual Beli Digital yang Berkah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
        <p:cNvGrpSpPr/>
        <p:nvPr/>
      </p:nvGrpSpPr>
      <p:grpSpPr>
        <a:xfrm>
          <a:off x="0" y="0"/>
          <a:ext cx="0" cy="0"/>
          <a:chOff x="0" y="0"/>
          <a:chExt cx="0" cy="0"/>
        </a:xfrm>
      </p:grpSpPr>
      <p:pic>
        <p:nvPicPr>
          <p:cNvPr id="156" name="Google Shape;156;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7" name="Google Shape;157;p19"/>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9"/>
          <p:cNvSpPr txBox="1"/>
          <p:nvPr/>
        </p:nvSpPr>
        <p:spPr>
          <a:xfrm>
            <a:off x="571500" y="647700"/>
            <a:ext cx="5550693" cy="1171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64E3B"/>
                </a:solidFill>
                <a:latin typeface="Poppins"/>
                <a:ea typeface="Poppins"/>
                <a:cs typeface="Poppins"/>
                <a:sym typeface="Poppins"/>
              </a:rPr>
              <a:t>Syariat dalam Bertransaksi</a:t>
            </a:r>
            <a:endParaRPr/>
          </a:p>
        </p:txBody>
      </p:sp>
      <p:sp>
        <p:nvSpPr>
          <p:cNvPr id="159" name="Google Shape;159;p19"/>
          <p:cNvSpPr/>
          <p:nvPr/>
        </p:nvSpPr>
        <p:spPr>
          <a:xfrm>
            <a:off x="571500" y="1885950"/>
            <a:ext cx="5286375" cy="2857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0" name="Google Shape;160;p19" descr="image.png"/>
          <p:cNvPicPr preferRelativeResize="0"/>
          <p:nvPr/>
        </p:nvPicPr>
        <p:blipFill rotWithShape="1">
          <a:blip r:embed="rId4">
            <a:alphaModFix/>
          </a:blip>
          <a:srcRect/>
          <a:stretch/>
        </p:blipFill>
        <p:spPr>
          <a:xfrm>
            <a:off x="6334125" y="76200"/>
            <a:ext cx="5857875" cy="6858000"/>
          </a:xfrm>
          <a:prstGeom prst="rect">
            <a:avLst/>
          </a:prstGeom>
          <a:noFill/>
          <a:ln>
            <a:noFill/>
          </a:ln>
        </p:spPr>
      </p:pic>
      <p:sp>
        <p:nvSpPr>
          <p:cNvPr id="161" name="Google Shape;161;p19"/>
          <p:cNvSpPr txBox="1"/>
          <p:nvPr/>
        </p:nvSpPr>
        <p:spPr>
          <a:xfrm>
            <a:off x="571500" y="2007679"/>
            <a:ext cx="5550693"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dirty="0" err="1">
                <a:solidFill>
                  <a:srgbClr val="064E3B"/>
                </a:solidFill>
                <a:latin typeface="Poppins SemiBold"/>
                <a:ea typeface="Poppins SemiBold"/>
                <a:cs typeface="Poppins SemiBold"/>
                <a:sym typeface="Poppins SemiBold"/>
              </a:rPr>
              <a:t>Kejujuran</a:t>
            </a:r>
            <a:r>
              <a:rPr lang="en-US" sz="1950" b="0" i="0" u="none" strike="noStrike" cap="none" dirty="0">
                <a:solidFill>
                  <a:srgbClr val="064E3B"/>
                </a:solidFill>
                <a:latin typeface="Poppins SemiBold"/>
                <a:ea typeface="Poppins SemiBold"/>
                <a:cs typeface="Poppins SemiBold"/>
                <a:sym typeface="Poppins SemiBold"/>
              </a:rPr>
              <a:t> &amp; </a:t>
            </a:r>
            <a:r>
              <a:rPr lang="en-US" sz="1950" b="0" i="0" u="none" strike="noStrike" cap="none" dirty="0" err="1">
                <a:solidFill>
                  <a:srgbClr val="064E3B"/>
                </a:solidFill>
                <a:latin typeface="Poppins SemiBold"/>
                <a:ea typeface="Poppins SemiBold"/>
                <a:cs typeface="Poppins SemiBold"/>
                <a:sym typeface="Poppins SemiBold"/>
              </a:rPr>
              <a:t>Keterbukaan</a:t>
            </a:r>
            <a:endParaRPr dirty="0"/>
          </a:p>
        </p:txBody>
      </p:sp>
      <p:sp>
        <p:nvSpPr>
          <p:cNvPr id="162" name="Google Shape;162;p19"/>
          <p:cNvSpPr txBox="1"/>
          <p:nvPr/>
        </p:nvSpPr>
        <p:spPr>
          <a:xfrm>
            <a:off x="571500" y="2522029"/>
            <a:ext cx="528637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75569"/>
                </a:solidFill>
                <a:latin typeface="Lato"/>
                <a:ea typeface="Lato"/>
                <a:cs typeface="Lato"/>
                <a:sym typeface="Lato"/>
              </a:rPr>
              <a:t>Transaksi</a:t>
            </a:r>
            <a:r>
              <a:rPr lang="en-US" sz="1350" b="0" i="0" u="none" strike="noStrike" cap="none" dirty="0">
                <a:solidFill>
                  <a:srgbClr val="475569"/>
                </a:solidFill>
                <a:latin typeface="Lato"/>
                <a:ea typeface="Lato"/>
                <a:cs typeface="Lato"/>
                <a:sym typeface="Lato"/>
              </a:rPr>
              <a:t> online </a:t>
            </a:r>
            <a:r>
              <a:rPr lang="en-US" sz="1350" b="0" i="0" u="none" strike="noStrike" cap="none" dirty="0" err="1">
                <a:solidFill>
                  <a:srgbClr val="475569"/>
                </a:solidFill>
                <a:latin typeface="Lato"/>
                <a:ea typeface="Lato"/>
                <a:cs typeface="Lato"/>
                <a:sym typeface="Lato"/>
              </a:rPr>
              <a:t>diperbolehkan</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secara</a:t>
            </a:r>
            <a:r>
              <a:rPr lang="en-US" sz="1350" b="0" i="0" u="none" strike="noStrike" cap="none" dirty="0">
                <a:solidFill>
                  <a:srgbClr val="475569"/>
                </a:solidFill>
                <a:latin typeface="Lato"/>
                <a:ea typeface="Lato"/>
                <a:cs typeface="Lato"/>
                <a:sym typeface="Lato"/>
              </a:rPr>
              <a:t> agama </a:t>
            </a:r>
            <a:r>
              <a:rPr lang="en-US" sz="1350" b="0" i="0" u="none" strike="noStrike" cap="none" dirty="0" err="1">
                <a:solidFill>
                  <a:srgbClr val="475569"/>
                </a:solidFill>
                <a:latin typeface="Lato"/>
                <a:ea typeface="Lato"/>
                <a:cs typeface="Lato"/>
                <a:sym typeface="Lato"/>
              </a:rPr>
              <a:t>selama</a:t>
            </a:r>
            <a:r>
              <a:rPr lang="en-US" sz="1350" b="0" i="0" u="none" strike="noStrike" cap="none" dirty="0">
                <a:solidFill>
                  <a:srgbClr val="475569"/>
                </a:solidFill>
                <a:latin typeface="Lato"/>
                <a:ea typeface="Lato"/>
                <a:cs typeface="Lato"/>
                <a:sym typeface="Lato"/>
              </a:rPr>
              <a:t> tetap </a:t>
            </a:r>
            <a:r>
              <a:rPr lang="en-US" sz="1350" b="0" i="0" u="none" strike="noStrike" cap="none" dirty="0" err="1">
                <a:solidFill>
                  <a:srgbClr val="475569"/>
                </a:solidFill>
                <a:latin typeface="Lato"/>
                <a:ea typeface="Lato"/>
                <a:cs typeface="Lato"/>
                <a:sym typeface="Lato"/>
              </a:rPr>
              <a:t>memenuhi</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prinsip-prinsip</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syariat</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Penjual</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diwajibkan</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memberikan</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informasi</a:t>
            </a:r>
            <a:r>
              <a:rPr lang="en-US" sz="1350" b="0" i="0" u="none" strike="noStrike" cap="none" dirty="0">
                <a:solidFill>
                  <a:srgbClr val="475569"/>
                </a:solidFill>
                <a:latin typeface="Lato"/>
                <a:ea typeface="Lato"/>
                <a:cs typeface="Lato"/>
                <a:sym typeface="Lato"/>
              </a:rPr>
              <a:t> yang </a:t>
            </a:r>
            <a:r>
              <a:rPr lang="en-US" sz="1350" b="0" i="0" u="none" strike="noStrike" cap="none" dirty="0" err="1">
                <a:solidFill>
                  <a:srgbClr val="475569"/>
                </a:solidFill>
                <a:latin typeface="Lato"/>
                <a:ea typeface="Lato"/>
                <a:cs typeface="Lato"/>
                <a:sym typeface="Lato"/>
              </a:rPr>
              <a:t>jujur</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mengenai</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kondisi</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kualitas</a:t>
            </a:r>
            <a:r>
              <a:rPr lang="en-US" sz="1350" b="0" i="0" u="none" strike="noStrike" cap="none" dirty="0">
                <a:solidFill>
                  <a:srgbClr val="475569"/>
                </a:solidFill>
                <a:latin typeface="Lato"/>
                <a:ea typeface="Lato"/>
                <a:cs typeface="Lato"/>
                <a:sym typeface="Lato"/>
              </a:rPr>
              <a:t>, dan </a:t>
            </a:r>
            <a:r>
              <a:rPr lang="en-US" sz="1350" b="0" i="0" u="none" strike="noStrike" cap="none" dirty="0" err="1">
                <a:solidFill>
                  <a:srgbClr val="475569"/>
                </a:solidFill>
                <a:latin typeface="Lato"/>
                <a:ea typeface="Lato"/>
                <a:cs typeface="Lato"/>
                <a:sym typeface="Lato"/>
              </a:rPr>
              <a:t>harga</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produk</a:t>
            </a:r>
            <a:r>
              <a:rPr lang="en-US" sz="1350" b="0" i="0" u="none" strike="noStrike" cap="none" dirty="0">
                <a:solidFill>
                  <a:srgbClr val="475569"/>
                </a:solidFill>
                <a:latin typeface="Lato"/>
                <a:ea typeface="Lato"/>
                <a:cs typeface="Lato"/>
                <a:sym typeface="Lato"/>
              </a:rPr>
              <a:t>.</a:t>
            </a:r>
            <a:endParaRPr dirty="0"/>
          </a:p>
        </p:txBody>
      </p:sp>
      <p:sp>
        <p:nvSpPr>
          <p:cNvPr id="163" name="Google Shape;163;p19"/>
          <p:cNvSpPr txBox="1"/>
          <p:nvPr/>
        </p:nvSpPr>
        <p:spPr>
          <a:xfrm>
            <a:off x="571500" y="3573500"/>
            <a:ext cx="5286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75569"/>
                </a:solidFill>
                <a:latin typeface="Lato"/>
                <a:ea typeface="Lato"/>
                <a:cs typeface="Lato"/>
                <a:sym typeface="Lato"/>
              </a:rPr>
              <a:t>Prinsip</a:t>
            </a:r>
            <a:r>
              <a:rPr lang="en-US" sz="1350" b="0"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ridha</a:t>
            </a:r>
            <a:r>
              <a:rPr lang="en-US" sz="1350" b="0" i="0" u="none" strike="noStrike" cap="none" dirty="0">
                <a:solidFill>
                  <a:srgbClr val="475569"/>
                </a:solidFill>
                <a:latin typeface="Lato"/>
                <a:ea typeface="Lato"/>
                <a:cs typeface="Lato"/>
                <a:sym typeface="Lato"/>
              </a:rPr>
              <a:t> (suka </a:t>
            </a:r>
            <a:r>
              <a:rPr lang="en-US" sz="1350" b="0" i="0" u="none" strike="noStrike" cap="none" dirty="0" err="1">
                <a:solidFill>
                  <a:srgbClr val="475569"/>
                </a:solidFill>
                <a:latin typeface="Lato"/>
                <a:ea typeface="Lato"/>
                <a:cs typeface="Lato"/>
                <a:sym typeface="Lato"/>
              </a:rPr>
              <a:t>sama</a:t>
            </a:r>
            <a:r>
              <a:rPr lang="en-US" sz="1350" b="0" i="0" u="none" strike="noStrike" cap="none" dirty="0">
                <a:solidFill>
                  <a:srgbClr val="475569"/>
                </a:solidFill>
                <a:latin typeface="Lato"/>
                <a:ea typeface="Lato"/>
                <a:cs typeface="Lato"/>
                <a:sym typeface="Lato"/>
              </a:rPr>
              <a:t> suka) </a:t>
            </a:r>
            <a:r>
              <a:rPr lang="en-US" sz="1350" b="0" i="0" u="none" strike="noStrike" cap="none" dirty="0" err="1">
                <a:solidFill>
                  <a:srgbClr val="475569"/>
                </a:solidFill>
                <a:latin typeface="Lato"/>
                <a:ea typeface="Lato"/>
                <a:cs typeface="Lato"/>
                <a:sym typeface="Lato"/>
              </a:rPr>
              <a:t>tanpa</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adanya</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paksaan</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mutlak</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diterapkan</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melalui</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kesepakatan</a:t>
            </a:r>
            <a:r>
              <a:rPr lang="en-US" sz="1350" b="0" i="0" u="none" strike="noStrike" cap="none" dirty="0">
                <a:solidFill>
                  <a:srgbClr val="475569"/>
                </a:solidFill>
                <a:latin typeface="Lato"/>
                <a:ea typeface="Lato"/>
                <a:cs typeface="Lato"/>
                <a:sym typeface="Lato"/>
              </a:rPr>
              <a:t> dan </a:t>
            </a:r>
            <a:r>
              <a:rPr lang="en-US" sz="1350" b="0" i="0" u="none" strike="noStrike" cap="none" dirty="0" err="1">
                <a:solidFill>
                  <a:srgbClr val="475569"/>
                </a:solidFill>
                <a:latin typeface="Lato"/>
                <a:ea typeface="Lato"/>
                <a:cs typeface="Lato"/>
                <a:sym typeface="Lato"/>
              </a:rPr>
              <a:t>akad</a:t>
            </a:r>
            <a:r>
              <a:rPr lang="en-US" sz="1350" b="0" i="0" u="none" strike="noStrike" cap="none" dirty="0">
                <a:solidFill>
                  <a:srgbClr val="475569"/>
                </a:solidFill>
                <a:latin typeface="Lato"/>
                <a:ea typeface="Lato"/>
                <a:cs typeface="Lato"/>
                <a:sym typeface="Lato"/>
              </a:rPr>
              <a:t> yang </a:t>
            </a:r>
            <a:r>
              <a:rPr lang="en-US" sz="1350" b="0" i="0" u="none" strike="noStrike" cap="none" dirty="0" err="1">
                <a:solidFill>
                  <a:srgbClr val="475569"/>
                </a:solidFill>
                <a:latin typeface="Lato"/>
                <a:ea typeface="Lato"/>
                <a:cs typeface="Lato"/>
                <a:sym typeface="Lato"/>
              </a:rPr>
              <a:t>jelas</a:t>
            </a:r>
            <a:r>
              <a:rPr lang="en-US" sz="1350" b="0" i="0" u="none" strike="noStrike" cap="none" dirty="0">
                <a:solidFill>
                  <a:srgbClr val="475569"/>
                </a:solidFill>
                <a:latin typeface="Lato"/>
                <a:ea typeface="Lato"/>
                <a:cs typeface="Lato"/>
                <a:sym typeface="Lato"/>
              </a:rPr>
              <a:t> di </a:t>
            </a:r>
            <a:r>
              <a:rPr lang="en-US" sz="1350" b="0" i="0" u="none" strike="noStrike" cap="none" dirty="0" err="1">
                <a:solidFill>
                  <a:srgbClr val="475569"/>
                </a:solidFill>
                <a:latin typeface="Lato"/>
                <a:ea typeface="Lato"/>
                <a:cs typeface="Lato"/>
                <a:sym typeface="Lato"/>
              </a:rPr>
              <a:t>awal</a:t>
            </a:r>
            <a:r>
              <a:rPr lang="en-US" sz="1350" b="0" i="0" u="none" strike="noStrike" cap="none" dirty="0">
                <a:solidFill>
                  <a:srgbClr val="475569"/>
                </a:solidFill>
                <a:latin typeface="Lato"/>
                <a:ea typeface="Lato"/>
                <a:cs typeface="Lato"/>
                <a:sym typeface="Lato"/>
              </a:rPr>
              <a:t> </a:t>
            </a:r>
            <a:r>
              <a:rPr lang="en-US" sz="1350" b="0" i="0" u="none" strike="noStrike" cap="none" dirty="0" err="1">
                <a:solidFill>
                  <a:srgbClr val="475569"/>
                </a:solidFill>
                <a:latin typeface="Lato"/>
                <a:ea typeface="Lato"/>
                <a:cs typeface="Lato"/>
                <a:sym typeface="Lato"/>
              </a:rPr>
              <a:t>transaksi</a:t>
            </a:r>
            <a:r>
              <a:rPr lang="en-US" sz="1350" b="0" i="0" u="none" strike="noStrike" cap="none" dirty="0">
                <a:solidFill>
                  <a:srgbClr val="475569"/>
                </a:solidFill>
                <a:latin typeface="Lato"/>
                <a:ea typeface="Lato"/>
                <a:cs typeface="Lato"/>
                <a:sym typeface="Lato"/>
              </a:rPr>
              <a: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
        <p:cNvGrpSpPr/>
        <p:nvPr/>
      </p:nvGrpSpPr>
      <p:grpSpPr>
        <a:xfrm>
          <a:off x="0" y="0"/>
          <a:ext cx="0" cy="0"/>
          <a:chOff x="0" y="0"/>
          <a:chExt cx="0" cy="0"/>
        </a:xfrm>
      </p:grpSpPr>
      <p:pic>
        <p:nvPicPr>
          <p:cNvPr id="168" name="Google Shape;168;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9" name="Google Shape;169;p20" descr="image.png"/>
          <p:cNvPicPr preferRelativeResize="0"/>
          <p:nvPr/>
        </p:nvPicPr>
        <p:blipFill rotWithShape="1">
          <a:blip r:embed="rId4">
            <a:alphaModFix/>
          </a:blip>
          <a:srcRect/>
          <a:stretch/>
        </p:blipFill>
        <p:spPr>
          <a:xfrm>
            <a:off x="571500" y="2404169"/>
            <a:ext cx="3429000" cy="3202185"/>
          </a:xfrm>
          <a:prstGeom prst="rect">
            <a:avLst/>
          </a:prstGeom>
          <a:noFill/>
          <a:ln>
            <a:noFill/>
          </a:ln>
        </p:spPr>
      </p:pic>
      <p:pic>
        <p:nvPicPr>
          <p:cNvPr id="170" name="Google Shape;170;p20" descr="image.png"/>
          <p:cNvPicPr preferRelativeResize="0"/>
          <p:nvPr/>
        </p:nvPicPr>
        <p:blipFill rotWithShape="1">
          <a:blip r:embed="rId5">
            <a:alphaModFix/>
          </a:blip>
          <a:srcRect/>
          <a:stretch/>
        </p:blipFill>
        <p:spPr>
          <a:xfrm>
            <a:off x="4381500" y="2404169"/>
            <a:ext cx="3429000" cy="3202185"/>
          </a:xfrm>
          <a:prstGeom prst="rect">
            <a:avLst/>
          </a:prstGeom>
          <a:noFill/>
          <a:ln>
            <a:noFill/>
          </a:ln>
        </p:spPr>
      </p:pic>
      <p:pic>
        <p:nvPicPr>
          <p:cNvPr id="171" name="Google Shape;171;p20" descr="image.png"/>
          <p:cNvPicPr preferRelativeResize="0"/>
          <p:nvPr/>
        </p:nvPicPr>
        <p:blipFill rotWithShape="1">
          <a:blip r:embed="rId5">
            <a:alphaModFix/>
          </a:blip>
          <a:srcRect/>
          <a:stretch/>
        </p:blipFill>
        <p:spPr>
          <a:xfrm>
            <a:off x="8191500" y="2404169"/>
            <a:ext cx="3429000" cy="3202185"/>
          </a:xfrm>
          <a:prstGeom prst="rect">
            <a:avLst/>
          </a:prstGeom>
          <a:noFill/>
          <a:ln>
            <a:noFill/>
          </a:ln>
        </p:spPr>
      </p:pic>
      <p:sp>
        <p:nvSpPr>
          <p:cNvPr id="172" name="Google Shape;172;p20"/>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20"/>
          <p:cNvSpPr txBox="1"/>
          <p:nvPr/>
        </p:nvSpPr>
        <p:spPr>
          <a:xfrm>
            <a:off x="1990963" y="3480494"/>
            <a:ext cx="590073"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64E3B"/>
                </a:solidFill>
                <a:latin typeface="Poppins SemiBold"/>
                <a:ea typeface="Poppins SemiBold"/>
                <a:cs typeface="Poppins SemiBold"/>
                <a:sym typeface="Poppins SemiBold"/>
              </a:rPr>
              <a:t>Riba</a:t>
            </a:r>
            <a:endParaRPr/>
          </a:p>
        </p:txBody>
      </p:sp>
      <p:sp>
        <p:nvSpPr>
          <p:cNvPr id="174" name="Google Shape;174;p20"/>
          <p:cNvSpPr txBox="1"/>
          <p:nvPr/>
        </p:nvSpPr>
        <p:spPr>
          <a:xfrm>
            <a:off x="819150" y="3994844"/>
            <a:ext cx="293370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Segala bentuk tambahan yang tidak sah. Pertukaran maupun pinjaman harus dilakukan secara adil tanpa adanya bunga finansial.</a:t>
            </a:r>
            <a:endParaRPr/>
          </a:p>
        </p:txBody>
      </p:sp>
      <p:sp>
        <p:nvSpPr>
          <p:cNvPr id="175" name="Google Shape;175;p20"/>
          <p:cNvSpPr txBox="1"/>
          <p:nvPr/>
        </p:nvSpPr>
        <p:spPr>
          <a:xfrm>
            <a:off x="5620940" y="3480494"/>
            <a:ext cx="950118"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64E3B"/>
                </a:solidFill>
                <a:latin typeface="Poppins SemiBold"/>
                <a:ea typeface="Poppins SemiBold"/>
                <a:cs typeface="Poppins SemiBold"/>
                <a:sym typeface="Poppins SemiBold"/>
              </a:rPr>
              <a:t>Gharar</a:t>
            </a:r>
            <a:endParaRPr/>
          </a:p>
        </p:txBody>
      </p:sp>
      <p:sp>
        <p:nvSpPr>
          <p:cNvPr id="176" name="Google Shape;176;p20"/>
          <p:cNvSpPr txBox="1"/>
          <p:nvPr/>
        </p:nvSpPr>
        <p:spPr>
          <a:xfrm>
            <a:off x="4629150" y="3994844"/>
            <a:ext cx="293370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Ketidakjelasan informasi barang atau jasa. Deskripsi produk harus detail dan transparan agar tidak terjadi unsur penipuan.</a:t>
            </a:r>
            <a:endParaRPr/>
          </a:p>
        </p:txBody>
      </p:sp>
      <p:sp>
        <p:nvSpPr>
          <p:cNvPr id="177" name="Google Shape;177;p20"/>
          <p:cNvSpPr txBox="1"/>
          <p:nvPr/>
        </p:nvSpPr>
        <p:spPr>
          <a:xfrm>
            <a:off x="9505950" y="3480494"/>
            <a:ext cx="800100"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64E3B"/>
                </a:solidFill>
                <a:latin typeface="Poppins SemiBold"/>
                <a:ea typeface="Poppins SemiBold"/>
                <a:cs typeface="Poppins SemiBold"/>
                <a:sym typeface="Poppins SemiBold"/>
              </a:rPr>
              <a:t>Maisir</a:t>
            </a:r>
            <a:endParaRPr/>
          </a:p>
        </p:txBody>
      </p:sp>
      <p:sp>
        <p:nvSpPr>
          <p:cNvPr id="178" name="Google Shape;178;p20"/>
          <p:cNvSpPr txBox="1"/>
          <p:nvPr/>
        </p:nvSpPr>
        <p:spPr>
          <a:xfrm>
            <a:off x="8439150" y="3994844"/>
            <a:ext cx="293370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Unsur spekulasi atau perjudian dalam transaksi. Kepastian dalam pertukaran nilai dan barang wajib hukumnya dalam Islam.</a:t>
            </a:r>
            <a:endParaRPr/>
          </a:p>
        </p:txBody>
      </p:sp>
      <p:pic>
        <p:nvPicPr>
          <p:cNvPr id="179" name="Google Shape;179;p20" descr="image.png"/>
          <p:cNvPicPr preferRelativeResize="0"/>
          <p:nvPr/>
        </p:nvPicPr>
        <p:blipFill rotWithShape="1">
          <a:blip r:embed="rId6">
            <a:alphaModFix/>
          </a:blip>
          <a:srcRect/>
          <a:stretch/>
        </p:blipFill>
        <p:spPr>
          <a:xfrm>
            <a:off x="2057400" y="2794694"/>
            <a:ext cx="457200" cy="457200"/>
          </a:xfrm>
          <a:prstGeom prst="rect">
            <a:avLst/>
          </a:prstGeom>
          <a:noFill/>
          <a:ln>
            <a:noFill/>
          </a:ln>
        </p:spPr>
      </p:pic>
      <p:pic>
        <p:nvPicPr>
          <p:cNvPr id="180" name="Google Shape;180;p20" descr="image.png"/>
          <p:cNvPicPr preferRelativeResize="0"/>
          <p:nvPr/>
        </p:nvPicPr>
        <p:blipFill rotWithShape="1">
          <a:blip r:embed="rId7">
            <a:alphaModFix/>
          </a:blip>
          <a:srcRect/>
          <a:stretch/>
        </p:blipFill>
        <p:spPr>
          <a:xfrm>
            <a:off x="5810250" y="2794694"/>
            <a:ext cx="571500" cy="457200"/>
          </a:xfrm>
          <a:prstGeom prst="rect">
            <a:avLst/>
          </a:prstGeom>
          <a:noFill/>
          <a:ln>
            <a:noFill/>
          </a:ln>
        </p:spPr>
      </p:pic>
      <p:pic>
        <p:nvPicPr>
          <p:cNvPr id="181" name="Google Shape;181;p20" descr="image.png"/>
          <p:cNvPicPr preferRelativeResize="0"/>
          <p:nvPr/>
        </p:nvPicPr>
        <p:blipFill rotWithShape="1">
          <a:blip r:embed="rId8">
            <a:alphaModFix/>
          </a:blip>
          <a:srcRect/>
          <a:stretch/>
        </p:blipFill>
        <p:spPr>
          <a:xfrm>
            <a:off x="9620250" y="2794694"/>
            <a:ext cx="571500" cy="457200"/>
          </a:xfrm>
          <a:prstGeom prst="rect">
            <a:avLst/>
          </a:prstGeom>
          <a:noFill/>
          <a:ln>
            <a:noFill/>
          </a:ln>
        </p:spPr>
      </p:pic>
      <p:sp>
        <p:nvSpPr>
          <p:cNvPr id="182" name="Google Shape;182;p20"/>
          <p:cNvSpPr txBox="1"/>
          <p:nvPr/>
        </p:nvSpPr>
        <p:spPr>
          <a:xfrm>
            <a:off x="571500" y="6477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64E3B"/>
                </a:solidFill>
                <a:latin typeface="Poppins"/>
                <a:ea typeface="Poppins"/>
                <a:cs typeface="Poppins"/>
                <a:sym typeface="Poppins"/>
              </a:rPr>
              <a:t>Larangan Muamalah Digital</a:t>
            </a:r>
            <a:endParaRPr/>
          </a:p>
        </p:txBody>
      </p:sp>
      <p:sp>
        <p:nvSpPr>
          <p:cNvPr id="183" name="Google Shape;183;p20"/>
          <p:cNvSpPr/>
          <p:nvPr/>
        </p:nvSpPr>
        <p:spPr>
          <a:xfrm>
            <a:off x="571500" y="1314450"/>
            <a:ext cx="11049000" cy="2857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pic>
        <p:nvPicPr>
          <p:cNvPr id="188" name="Google Shape;18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9" name="Google Shape;189;p21" descr="image.png"/>
          <p:cNvPicPr preferRelativeResize="0"/>
          <p:nvPr/>
        </p:nvPicPr>
        <p:blipFill rotWithShape="1">
          <a:blip r:embed="rId4">
            <a:alphaModFix/>
          </a:blip>
          <a:srcRect/>
          <a:stretch/>
        </p:blipFill>
        <p:spPr>
          <a:xfrm>
            <a:off x="6334125" y="2195512"/>
            <a:ext cx="5286375" cy="3619500"/>
          </a:xfrm>
          <a:prstGeom prst="rect">
            <a:avLst/>
          </a:prstGeom>
          <a:noFill/>
          <a:ln>
            <a:noFill/>
          </a:ln>
        </p:spPr>
      </p:pic>
      <p:sp>
        <p:nvSpPr>
          <p:cNvPr id="190" name="Google Shape;190;p21"/>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21"/>
          <p:cNvSpPr txBox="1"/>
          <p:nvPr/>
        </p:nvSpPr>
        <p:spPr>
          <a:xfrm>
            <a:off x="904875" y="2195512"/>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Lato"/>
                <a:ea typeface="Lato"/>
                <a:cs typeface="Lato"/>
                <a:sym typeface="Lato"/>
              </a:rPr>
              <a:t>Amanah (Kepercayaan):</a:t>
            </a:r>
            <a:r>
              <a:rPr lang="en-US" sz="1350" b="0" i="0" u="none" strike="noStrike" cap="none">
                <a:solidFill>
                  <a:srgbClr val="475569"/>
                </a:solidFill>
                <a:latin typeface="Lato"/>
                <a:ea typeface="Lato"/>
                <a:cs typeface="Lato"/>
                <a:sym typeface="Lato"/>
              </a:rPr>
              <a:t> Penjual memastikan barang dikirim tepat waktu, sementara pembeli melunasi pembayaran sesuai akad.</a:t>
            </a:r>
            <a:endParaRPr/>
          </a:p>
        </p:txBody>
      </p:sp>
      <p:sp>
        <p:nvSpPr>
          <p:cNvPr id="192" name="Google Shape;192;p21"/>
          <p:cNvSpPr txBox="1"/>
          <p:nvPr/>
        </p:nvSpPr>
        <p:spPr>
          <a:xfrm>
            <a:off x="904875" y="2982217"/>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Lato"/>
                <a:ea typeface="Lato"/>
                <a:cs typeface="Lato"/>
                <a:sym typeface="Lato"/>
              </a:rPr>
              <a:t>Musyawarah:</a:t>
            </a:r>
            <a:r>
              <a:rPr lang="en-US" sz="1350" b="0" i="0" u="none" strike="noStrike" cap="none">
                <a:solidFill>
                  <a:srgbClr val="475569"/>
                </a:solidFill>
                <a:latin typeface="Lato"/>
                <a:ea typeface="Lato"/>
                <a:cs typeface="Lato"/>
                <a:sym typeface="Lato"/>
              </a:rPr>
              <a:t> Jika terjadi kendala atau komplain, kedua pihak mencari penyelesaian dengan cara komunikasi yang baik.</a:t>
            </a:r>
            <a:endParaRPr/>
          </a:p>
        </p:txBody>
      </p:sp>
      <p:sp>
        <p:nvSpPr>
          <p:cNvPr id="193" name="Google Shape;193;p21"/>
          <p:cNvSpPr txBox="1"/>
          <p:nvPr/>
        </p:nvSpPr>
        <p:spPr>
          <a:xfrm>
            <a:off x="904875" y="3768923"/>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Lato"/>
                <a:ea typeface="Lato"/>
                <a:cs typeface="Lato"/>
                <a:sym typeface="Lato"/>
              </a:rPr>
              <a:t>Kemaslahatan:</a:t>
            </a:r>
            <a:r>
              <a:rPr lang="en-US" sz="1350" b="0" i="0" u="none" strike="noStrike" cap="none">
                <a:solidFill>
                  <a:srgbClr val="475569"/>
                </a:solidFill>
                <a:latin typeface="Lato"/>
                <a:ea typeface="Lato"/>
                <a:cs typeface="Lato"/>
                <a:sym typeface="Lato"/>
              </a:rPr>
              <a:t> Sebuah transaksi harus mendatangkan manfaat bagi kedua belah pihak dan tidak membawa mudarat.</a:t>
            </a:r>
            <a:endParaRPr/>
          </a:p>
        </p:txBody>
      </p:sp>
      <p:sp>
        <p:nvSpPr>
          <p:cNvPr id="194" name="Google Shape;194;p21"/>
          <p:cNvSpPr txBox="1"/>
          <p:nvPr/>
        </p:nvSpPr>
        <p:spPr>
          <a:xfrm>
            <a:off x="904875" y="4555628"/>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E293B"/>
                </a:solidFill>
                <a:latin typeface="Lato"/>
                <a:ea typeface="Lato"/>
                <a:cs typeface="Lato"/>
                <a:sym typeface="Lato"/>
              </a:rPr>
              <a:t>Nilai Ibadah:</a:t>
            </a:r>
            <a:r>
              <a:rPr lang="en-US" sz="1350" b="0" i="0" u="none" strike="noStrike" cap="none">
                <a:solidFill>
                  <a:srgbClr val="475569"/>
                </a:solidFill>
                <a:latin typeface="Lato"/>
                <a:ea typeface="Lato"/>
                <a:cs typeface="Lato"/>
                <a:sym typeface="Lato"/>
              </a:rPr>
              <a:t> Aktivitas jual beli yang baik tidak hanya bernilai ekonomi, namun dihitung sebagai ibadah kepada Allah SWT.</a:t>
            </a:r>
            <a:endParaRPr/>
          </a:p>
        </p:txBody>
      </p:sp>
      <p:pic>
        <p:nvPicPr>
          <p:cNvPr id="195" name="Google Shape;195;p21" descr="image.png"/>
          <p:cNvPicPr preferRelativeResize="0"/>
          <p:nvPr/>
        </p:nvPicPr>
        <p:blipFill rotWithShape="1">
          <a:blip r:embed="rId5">
            <a:alphaModFix/>
          </a:blip>
          <a:srcRect/>
          <a:stretch/>
        </p:blipFill>
        <p:spPr>
          <a:xfrm>
            <a:off x="6372225" y="2233612"/>
            <a:ext cx="5210175" cy="3543300"/>
          </a:xfrm>
          <a:prstGeom prst="rect">
            <a:avLst/>
          </a:prstGeom>
          <a:noFill/>
          <a:ln>
            <a:noFill/>
          </a:ln>
        </p:spPr>
      </p:pic>
      <p:sp>
        <p:nvSpPr>
          <p:cNvPr id="196" name="Google Shape;196;p21"/>
          <p:cNvSpPr txBox="1"/>
          <p:nvPr/>
        </p:nvSpPr>
        <p:spPr>
          <a:xfrm>
            <a:off x="571500" y="6477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64E3B"/>
                </a:solidFill>
                <a:latin typeface="Poppins"/>
                <a:ea typeface="Poppins"/>
                <a:cs typeface="Poppins"/>
                <a:sym typeface="Poppins"/>
              </a:rPr>
              <a:t>Tanggung Jawab Bertransaksi</a:t>
            </a:r>
            <a:endParaRPr/>
          </a:p>
        </p:txBody>
      </p:sp>
      <p:sp>
        <p:nvSpPr>
          <p:cNvPr id="197" name="Google Shape;197;p21"/>
          <p:cNvSpPr/>
          <p:nvPr/>
        </p:nvSpPr>
        <p:spPr>
          <a:xfrm>
            <a:off x="571500" y="1314450"/>
            <a:ext cx="11049000" cy="2857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8" name="Google Shape;198;p21" descr="image.png"/>
          <p:cNvPicPr preferRelativeResize="0"/>
          <p:nvPr/>
        </p:nvPicPr>
        <p:blipFill rotWithShape="1">
          <a:blip r:embed="rId6">
            <a:alphaModFix/>
          </a:blip>
          <a:srcRect/>
          <a:stretch/>
        </p:blipFill>
        <p:spPr>
          <a:xfrm>
            <a:off x="571500" y="2214562"/>
            <a:ext cx="190500" cy="200025"/>
          </a:xfrm>
          <a:prstGeom prst="rect">
            <a:avLst/>
          </a:prstGeom>
          <a:noFill/>
          <a:ln>
            <a:noFill/>
          </a:ln>
        </p:spPr>
      </p:pic>
      <p:pic>
        <p:nvPicPr>
          <p:cNvPr id="199" name="Google Shape;199;p21" descr="image.png"/>
          <p:cNvPicPr preferRelativeResize="0"/>
          <p:nvPr/>
        </p:nvPicPr>
        <p:blipFill rotWithShape="1">
          <a:blip r:embed="rId6">
            <a:alphaModFix/>
          </a:blip>
          <a:srcRect/>
          <a:stretch/>
        </p:blipFill>
        <p:spPr>
          <a:xfrm>
            <a:off x="571500" y="3001267"/>
            <a:ext cx="190500" cy="200025"/>
          </a:xfrm>
          <a:prstGeom prst="rect">
            <a:avLst/>
          </a:prstGeom>
          <a:noFill/>
          <a:ln>
            <a:noFill/>
          </a:ln>
        </p:spPr>
      </p:pic>
      <p:pic>
        <p:nvPicPr>
          <p:cNvPr id="200" name="Google Shape;200;p21" descr="image.png"/>
          <p:cNvPicPr preferRelativeResize="0"/>
          <p:nvPr/>
        </p:nvPicPr>
        <p:blipFill rotWithShape="1">
          <a:blip r:embed="rId6">
            <a:alphaModFix/>
          </a:blip>
          <a:srcRect/>
          <a:stretch/>
        </p:blipFill>
        <p:spPr>
          <a:xfrm>
            <a:off x="571500" y="3787973"/>
            <a:ext cx="190500" cy="200025"/>
          </a:xfrm>
          <a:prstGeom prst="rect">
            <a:avLst/>
          </a:prstGeom>
          <a:noFill/>
          <a:ln>
            <a:noFill/>
          </a:ln>
        </p:spPr>
      </p:pic>
      <p:pic>
        <p:nvPicPr>
          <p:cNvPr id="201" name="Google Shape;201;p21" descr="image.png"/>
          <p:cNvPicPr preferRelativeResize="0"/>
          <p:nvPr/>
        </p:nvPicPr>
        <p:blipFill rotWithShape="1">
          <a:blip r:embed="rId6">
            <a:alphaModFix/>
          </a:blip>
          <a:srcRect/>
          <a:stretch/>
        </p:blipFill>
        <p:spPr>
          <a:xfrm>
            <a:off x="571500" y="4574678"/>
            <a:ext cx="190500" cy="200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5"/>
        <p:cNvGrpSpPr/>
        <p:nvPr/>
      </p:nvGrpSpPr>
      <p:grpSpPr>
        <a:xfrm>
          <a:off x="0" y="0"/>
          <a:ext cx="0" cy="0"/>
          <a:chOff x="0" y="0"/>
          <a:chExt cx="0" cy="0"/>
        </a:xfrm>
      </p:grpSpPr>
      <p:pic>
        <p:nvPicPr>
          <p:cNvPr id="206" name="Google Shape;20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7" name="Google Shape;207;p22" descr="image.png"/>
          <p:cNvPicPr preferRelativeResize="0"/>
          <p:nvPr/>
        </p:nvPicPr>
        <p:blipFill rotWithShape="1">
          <a:blip r:embed="rId4">
            <a:alphaModFix/>
          </a:blip>
          <a:srcRect/>
          <a:stretch/>
        </p:blipFill>
        <p:spPr>
          <a:xfrm>
            <a:off x="571500" y="2586037"/>
            <a:ext cx="5286375" cy="2838301"/>
          </a:xfrm>
          <a:prstGeom prst="rect">
            <a:avLst/>
          </a:prstGeom>
          <a:noFill/>
          <a:ln>
            <a:noFill/>
          </a:ln>
        </p:spPr>
      </p:pic>
      <p:pic>
        <p:nvPicPr>
          <p:cNvPr id="208" name="Google Shape;208;p22" descr="image.png"/>
          <p:cNvPicPr preferRelativeResize="0"/>
          <p:nvPr/>
        </p:nvPicPr>
        <p:blipFill rotWithShape="1">
          <a:blip r:embed="rId5">
            <a:alphaModFix/>
          </a:blip>
          <a:srcRect/>
          <a:stretch/>
        </p:blipFill>
        <p:spPr>
          <a:xfrm>
            <a:off x="6334125" y="2586037"/>
            <a:ext cx="5286375" cy="2838301"/>
          </a:xfrm>
          <a:prstGeom prst="rect">
            <a:avLst/>
          </a:prstGeom>
          <a:noFill/>
          <a:ln>
            <a:noFill/>
          </a:ln>
        </p:spPr>
      </p:pic>
      <p:sp>
        <p:nvSpPr>
          <p:cNvPr id="209" name="Google Shape;209;p22"/>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22"/>
          <p:cNvSpPr txBox="1"/>
          <p:nvPr/>
        </p:nvSpPr>
        <p:spPr>
          <a:xfrm>
            <a:off x="962025" y="3005137"/>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64E3B"/>
                </a:solidFill>
                <a:latin typeface="Poppins SemiBold"/>
                <a:ea typeface="Poppins SemiBold"/>
                <a:cs typeface="Poppins SemiBold"/>
                <a:sym typeface="Poppins SemiBold"/>
              </a:rPr>
              <a:t>Kesimpulan Utama</a:t>
            </a:r>
            <a:endParaRPr/>
          </a:p>
        </p:txBody>
      </p:sp>
      <p:sp>
        <p:nvSpPr>
          <p:cNvPr id="211" name="Google Shape;211;p22"/>
          <p:cNvSpPr txBox="1"/>
          <p:nvPr/>
        </p:nvSpPr>
        <p:spPr>
          <a:xfrm>
            <a:off x="962025" y="3519487"/>
            <a:ext cx="4505325"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Perkembangan teknologi modern tidak menghilangkan kewajiban moral umat Islam. Muamalah digital harus selalu dijalankan dengan penuh tanggung jawab, kejujuran (shiddiq), dan berkeadilan untuk mencegah praktik manipulasi seperti riba, gharar, dan maisir.</a:t>
            </a:r>
            <a:endParaRPr/>
          </a:p>
        </p:txBody>
      </p:sp>
      <p:sp>
        <p:nvSpPr>
          <p:cNvPr id="212" name="Google Shape;212;p22"/>
          <p:cNvSpPr txBox="1"/>
          <p:nvPr/>
        </p:nvSpPr>
        <p:spPr>
          <a:xfrm>
            <a:off x="6724650" y="3005137"/>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64E3B"/>
                </a:solidFill>
                <a:latin typeface="Poppins SemiBold"/>
                <a:ea typeface="Poppins SemiBold"/>
                <a:cs typeface="Poppins SemiBold"/>
                <a:sym typeface="Poppins SemiBold"/>
              </a:rPr>
              <a:t>Saran &amp; Tindak Lanjut</a:t>
            </a:r>
            <a:endParaRPr/>
          </a:p>
        </p:txBody>
      </p:sp>
      <p:sp>
        <p:nvSpPr>
          <p:cNvPr id="213" name="Google Shape;213;p22"/>
          <p:cNvSpPr txBox="1"/>
          <p:nvPr/>
        </p:nvSpPr>
        <p:spPr>
          <a:xfrm>
            <a:off x="6724650" y="3519487"/>
            <a:ext cx="4505325"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Masyarakat harus lebih bijak bermedia sosial dengan mengedepankan asas </a:t>
            </a:r>
            <a:r>
              <a:rPr lang="en-US" sz="1350" b="0" i="1" u="none" strike="noStrike" cap="none">
                <a:solidFill>
                  <a:srgbClr val="475569"/>
                </a:solidFill>
                <a:latin typeface="Lato"/>
                <a:ea typeface="Lato"/>
                <a:cs typeface="Lato"/>
                <a:sym typeface="Lato"/>
              </a:rPr>
              <a:t>tabayyun</a:t>
            </a:r>
            <a:r>
              <a:rPr lang="en-US" sz="1350" b="0" i="0" u="none" strike="noStrike" cap="none">
                <a:solidFill>
                  <a:srgbClr val="475569"/>
                </a:solidFill>
                <a:latin typeface="Lato"/>
                <a:ea typeface="Lato"/>
                <a:cs typeface="Lato"/>
                <a:sym typeface="Lato"/>
              </a:rPr>
              <a:t>. Pelaku usaha wajib memprioritaskan transparansi demi keberkahan, serta perlunya program edukasi fikih muamalah kontemporer bagi generasi digital.</a:t>
            </a:r>
            <a:endParaRPr/>
          </a:p>
        </p:txBody>
      </p:sp>
      <p:sp>
        <p:nvSpPr>
          <p:cNvPr id="214" name="Google Shape;214;p22"/>
          <p:cNvSpPr txBox="1"/>
          <p:nvPr/>
        </p:nvSpPr>
        <p:spPr>
          <a:xfrm>
            <a:off x="571500" y="6477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64E3B"/>
                </a:solidFill>
                <a:latin typeface="Poppins"/>
                <a:ea typeface="Poppins"/>
                <a:cs typeface="Poppins"/>
                <a:sym typeface="Poppins"/>
              </a:rPr>
              <a:t>Kesimpulan &amp; Saran</a:t>
            </a:r>
            <a:endParaRPr/>
          </a:p>
        </p:txBody>
      </p:sp>
      <p:sp>
        <p:nvSpPr>
          <p:cNvPr id="215" name="Google Shape;215;p22"/>
          <p:cNvSpPr/>
          <p:nvPr/>
        </p:nvSpPr>
        <p:spPr>
          <a:xfrm>
            <a:off x="571500" y="1314450"/>
            <a:ext cx="11049000" cy="28575"/>
          </a:xfrm>
          <a:prstGeom prst="rect">
            <a:avLst/>
          </a:prstGeom>
          <a:solidFill>
            <a:srgbClr val="D977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9"/>
        <p:cNvGrpSpPr/>
        <p:nvPr/>
      </p:nvGrpSpPr>
      <p:grpSpPr>
        <a:xfrm>
          <a:off x="0" y="0"/>
          <a:ext cx="0" cy="0"/>
          <a:chOff x="0" y="0"/>
          <a:chExt cx="0" cy="0"/>
        </a:xfrm>
      </p:grpSpPr>
      <p:pic>
        <p:nvPicPr>
          <p:cNvPr id="220" name="Google Shape;220;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1" name="Google Shape;221;p23"/>
          <p:cNvSpPr/>
          <p:nvPr/>
        </p:nvSpPr>
        <p:spPr>
          <a:xfrm>
            <a:off x="0" y="0"/>
            <a:ext cx="12192000" cy="76200"/>
          </a:xfrm>
          <a:prstGeom prst="rect">
            <a:avLst/>
          </a:prstGeom>
          <a:solidFill>
            <a:srgbClr val="064E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23"/>
          <p:cNvSpPr txBox="1"/>
          <p:nvPr/>
        </p:nvSpPr>
        <p:spPr>
          <a:xfrm>
            <a:off x="295275" y="2182117"/>
            <a:ext cx="1160145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64E3B"/>
                </a:solidFill>
                <a:latin typeface="Poppins"/>
                <a:ea typeface="Poppins"/>
                <a:cs typeface="Poppins"/>
                <a:sym typeface="Poppins"/>
              </a:rPr>
              <a:t>Terima Kasih</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449</Words>
  <Application>Microsoft Office PowerPoint</Application>
  <PresentationFormat>Widescreen</PresentationFormat>
  <Paragraphs>47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Lato</vt:lpstr>
      <vt:lpstr>Calibri</vt:lpstr>
      <vt:lpstr>Poppins</vt:lpstr>
      <vt:lpstr>Poppins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Muhammad Fikri</cp:lastModifiedBy>
  <cp:revision>1</cp:revision>
  <dcterms:modified xsi:type="dcterms:W3CDTF">2026-04-12T03:49:36Z</dcterms:modified>
</cp:coreProperties>
</file>