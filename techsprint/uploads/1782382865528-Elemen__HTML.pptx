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27AD6824-EA99-4475-AE78-5B0202645EBC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D0568E07-4041-472F-BB7F-DBBE6B548B6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24814" cy="1828800"/>
          </a:xfrm>
          <a:ln>
            <a:miter lim="800000"/>
            <a:headEnd/>
            <a:tailEnd/>
          </a:ln>
          <a:extLst/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id-ID" sz="6600" dirty="0" smtClean="0"/>
              <a:t>HTML</a:t>
            </a:r>
            <a:br>
              <a:rPr lang="id-ID" sz="6600" dirty="0" smtClean="0"/>
            </a:br>
            <a:r>
              <a:rPr lang="id-ID" sz="6000" i="1" dirty="0" smtClean="0"/>
              <a:t> </a:t>
            </a:r>
            <a:r>
              <a:rPr lang="id-ID" sz="4000" i="1" dirty="0" smtClean="0"/>
              <a:t>HyperText Markup Language</a:t>
            </a:r>
            <a:endParaRPr lang="id-ID" sz="4000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571500" y="3886200"/>
            <a:ext cx="7200900" cy="1752600"/>
          </a:xfrm>
        </p:spPr>
        <p:txBody>
          <a:bodyPr/>
          <a:lstStyle/>
          <a:p>
            <a:pPr marR="0" eaLnBrk="1" hangingPunct="1">
              <a:lnSpc>
                <a:spcPct val="90000"/>
              </a:lnSpc>
            </a:pPr>
            <a:endParaRPr lang="en-US" sz="2400" smtClean="0"/>
          </a:p>
        </p:txBody>
      </p:sp>
    </p:spTree>
    <p:extLst>
      <p:ext uri="{BB962C8B-B14F-4D97-AF65-F5344CB8AC3E}">
        <p14:creationId xmlns:p14="http://schemas.microsoft.com/office/powerpoint/2010/main" val="86670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024744" cy="1143000"/>
          </a:xfrm>
        </p:spPr>
        <p:txBody>
          <a:bodyPr/>
          <a:lstStyle/>
          <a:p>
            <a:r>
              <a:rPr lang="en-US" b="1" dirty="0" smtClean="0">
                <a:latin typeface="Tw Cen MT" pitchFamily="34" charset="0"/>
              </a:rPr>
              <a:t>TAG </a:t>
            </a:r>
            <a:r>
              <a:rPr lang="en-US" b="1" dirty="0" err="1" smtClean="0">
                <a:latin typeface="Tw Cen MT" pitchFamily="34" charset="0"/>
              </a:rPr>
              <a:t>TAG</a:t>
            </a:r>
            <a:r>
              <a:rPr lang="en-US" b="1" dirty="0" smtClean="0">
                <a:latin typeface="Tw Cen MT" pitchFamily="34" charset="0"/>
              </a:rPr>
              <a:t> DASAR HTML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5307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sv-SE" b="1" dirty="0" smtClean="0">
                <a:latin typeface="Tw Cen MT" pitchFamily="34" charset="0"/>
              </a:rPr>
              <a:t>Tag dasar berarti elemen dasar. Dokumen HTML secara mendasar akan terdiri atas teks informasi.</a:t>
            </a:r>
          </a:p>
          <a:p>
            <a:pPr>
              <a:lnSpc>
                <a:spcPct val="80000"/>
              </a:lnSpc>
            </a:pPr>
            <a:endParaRPr lang="sv-SE" b="1" dirty="0" smtClean="0">
              <a:latin typeface="Tw Cen MT" pitchFamily="34" charset="0"/>
            </a:endParaRPr>
          </a:p>
          <a:p>
            <a:pPr>
              <a:lnSpc>
                <a:spcPct val="80000"/>
              </a:lnSpc>
            </a:pPr>
            <a:r>
              <a:rPr lang="sv-SE" b="1" dirty="0" smtClean="0">
                <a:latin typeface="Tw Cen MT" pitchFamily="34" charset="0"/>
              </a:rPr>
              <a:t>HTML</a:t>
            </a:r>
            <a:endParaRPr lang="en-US" b="1" i="1" dirty="0" smtClean="0">
              <a:latin typeface="Tw Cen MT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sv-SE" b="1" dirty="0" smtClean="0">
                <a:latin typeface="Tw Cen MT" pitchFamily="34" charset="0"/>
              </a:rPr>
              <a:t>	Merupakan tag dasar yang mendefinisikan bahwa dokumen ini adalah dokumen HTML. Tag ini merupakan satu keharusan bagi pemrogram web untuk menuliskannya sebagai tag pertama dalam dokumen HTML.</a:t>
            </a:r>
            <a:endParaRPr lang="de-DE" b="1" dirty="0" smtClean="0">
              <a:latin typeface="Tw Cen MT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de-DE" b="1" dirty="0" smtClean="0">
                <a:latin typeface="Tw Cen MT" pitchFamily="34" charset="0"/>
              </a:rPr>
              <a:t>		&lt;html&gt; di awal dokumen dan &lt;/html&gt; di akhir 	dokumen.</a:t>
            </a:r>
            <a:endParaRPr lang="en-US" b="1" dirty="0" smtClean="0">
              <a:latin typeface="Tw Cen MT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Peng . Komp &amp; TI 2C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EF7D3-F5F6-4243-B5CE-B76FC1AF117B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2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latin typeface="Tw Cen MT" pitchFamily="34" charset="0"/>
              </a:rPr>
              <a:t>TAG TAG DASAR HTML (cont.)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sv-SE" sz="2400" b="1" smtClean="0">
                <a:latin typeface="Tw Cen MT" pitchFamily="34" charset="0"/>
              </a:rPr>
              <a:t>Head</a:t>
            </a:r>
            <a:endParaRPr lang="en-US" sz="2400" b="1" smtClean="0">
              <a:latin typeface="Tw Cen MT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sv-SE" sz="2400" b="1" smtClean="0">
                <a:latin typeface="Tw Cen MT" pitchFamily="34" charset="0"/>
              </a:rPr>
              <a:t>	Merupakan tag berikutnya setelah &lt;html&gt; untuk menuliskan keterangan tentang dokumen web yang akan ditampilkan</a:t>
            </a:r>
            <a:endParaRPr lang="en-US" sz="2400" b="1" smtClean="0">
              <a:latin typeface="Tw Cen MT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smtClean="0">
                <a:latin typeface="Tw Cen MT" pitchFamily="34" charset="0"/>
              </a:rPr>
              <a:t>		&lt;head&gt; di awal setelah &lt;html&gt;, dan &lt;/head&gt; di akhir 	section head</a:t>
            </a:r>
          </a:p>
          <a:p>
            <a:pPr>
              <a:lnSpc>
                <a:spcPct val="80000"/>
              </a:lnSpc>
            </a:pPr>
            <a:endParaRPr lang="en-US" sz="2400" b="1" smtClean="0">
              <a:latin typeface="Tw Cen MT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400" b="1" smtClean="0">
                <a:latin typeface="Tw Cen MT" pitchFamily="34" charset="0"/>
              </a:rPr>
              <a:t>Title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smtClean="0">
                <a:latin typeface="Tw Cen MT" pitchFamily="34" charset="0"/>
              </a:rPr>
              <a:t>	Merupakan tag di dalam head yang harus dituliskan untuk memberikan judul/ informasi pada caption browser web tentang topik atau judul dari dokumen web yang ditampilkan dalam browser.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400" b="1" smtClean="0">
                <a:latin typeface="Tw Cen MT" pitchFamily="34" charset="0"/>
              </a:rPr>
              <a:t>		&lt;title&gt; judul dokumen&lt;/title&gt;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Peng . Komp &amp; TI 2C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07E4FF-8C3D-4CBF-BDF5-45E53F440CE8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20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8229600" cy="1143000"/>
          </a:xfrm>
        </p:spPr>
        <p:txBody>
          <a:bodyPr/>
          <a:lstStyle/>
          <a:p>
            <a:r>
              <a:rPr lang="en-US" b="1" smtClean="0">
                <a:latin typeface="Tw Cen MT" pitchFamily="34" charset="0"/>
              </a:rPr>
              <a:t>TAG TAG DASAR HTML (cont.)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5307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000" b="1" smtClean="0">
                <a:latin typeface="Tw Cen MT" pitchFamily="34" charset="0"/>
              </a:rPr>
              <a:t>Body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smtClean="0">
                <a:latin typeface="Tw Cen MT" pitchFamily="34" charset="0"/>
              </a:rPr>
              <a:t>	Merupakan section utama dalam dokumen web. Pada section ini semua isi dokumen  yang akan ditampilkan di dalam browser harus dituliskan.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smtClean="0">
                <a:latin typeface="Tw Cen MT" pitchFamily="34" charset="0"/>
              </a:rPr>
              <a:t>		&lt;body&gt; di awal, segera setelah tag &lt;/head&gt;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b="1" smtClean="0">
                <a:latin typeface="Tw Cen MT" pitchFamily="34" charset="0"/>
              </a:rPr>
              <a:t>		&lt;/body&gt; di akhir, diletakkan sebelum tag &lt;/html&gt;</a:t>
            </a:r>
          </a:p>
          <a:p>
            <a:pPr>
              <a:lnSpc>
                <a:spcPct val="80000"/>
              </a:lnSpc>
            </a:pPr>
            <a:endParaRPr lang="en-US" sz="2000" b="1" smtClean="0">
              <a:latin typeface="Tw Cen MT" pitchFamily="34" charset="0"/>
            </a:endParaRPr>
          </a:p>
          <a:p>
            <a:pPr>
              <a:lnSpc>
                <a:spcPct val="80000"/>
              </a:lnSpc>
            </a:pPr>
            <a:r>
              <a:rPr lang="en-US" sz="2000" b="1" smtClean="0">
                <a:latin typeface="Tw Cen MT" pitchFamily="34" charset="0"/>
              </a:rPr>
              <a:t>Paragraf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sv-SE" sz="2000" b="1" smtClean="0">
                <a:latin typeface="Tw Cen MT" pitchFamily="34" charset="0"/>
              </a:rPr>
              <a:t>	Informasi yang disajikan dalam dokumen harus mengikuti kaidah kaidah dalam penulisan. Misalnya satu pikiran utama disimpan dalam satu paragraf.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sv-SE" sz="2000" b="1" smtClean="0">
                <a:latin typeface="Tw Cen MT" pitchFamily="34" charset="0"/>
              </a:rPr>
              <a:t>	Setiap paragraf harus dimulai dengan memberi tag &lt;p&gt;. diakhir paragraf tidak diharuskan menuliskan &lt;/p&gt; sebagai akhir paragraf. </a:t>
            </a:r>
            <a:r>
              <a:rPr lang="en-US" sz="2000" b="1" smtClean="0">
                <a:latin typeface="Tw Cen MT" pitchFamily="34" charset="0"/>
              </a:rPr>
              <a:t>Setiap pergantian paragraf harus dimulai dengan &lt;p&gt; kembali.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Peng . Komp &amp; TI 2C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0D6EB1-CCC4-48FA-B6AD-35487A2EEDCC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8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571500"/>
            <a:ext cx="8229600" cy="1143000"/>
          </a:xfrm>
        </p:spPr>
        <p:txBody>
          <a:bodyPr>
            <a:normAutofit fontScale="90000"/>
          </a:bodyPr>
          <a:lstStyle/>
          <a:p>
            <a:pPr algn="r" eaLnBrk="1" hangingPunct="1"/>
            <a:r>
              <a:rPr lang="id-ID" sz="4800" b="1" smtClean="0"/>
              <a:t/>
            </a:r>
            <a:br>
              <a:rPr lang="id-ID" sz="4800" b="1" smtClean="0"/>
            </a:br>
            <a:r>
              <a:rPr lang="id-ID" sz="4800" b="1" smtClean="0"/>
              <a:t/>
            </a:r>
            <a:br>
              <a:rPr lang="id-ID" sz="4800" b="1" smtClean="0"/>
            </a:br>
            <a:r>
              <a:rPr lang="id-ID" sz="4800" b="1" smtClean="0"/>
              <a:t/>
            </a:r>
            <a:br>
              <a:rPr lang="id-ID" sz="4800" b="1" smtClean="0"/>
            </a:br>
            <a:r>
              <a:rPr lang="id-ID" sz="4800" b="1" smtClean="0"/>
              <a:t/>
            </a:r>
            <a:br>
              <a:rPr lang="id-ID" sz="4800" b="1" smtClean="0"/>
            </a:br>
            <a:r>
              <a:rPr lang="id-ID" sz="4800" b="1" smtClean="0"/>
              <a:t/>
            </a:r>
            <a:br>
              <a:rPr lang="id-ID" sz="4800" b="1" smtClean="0"/>
            </a:br>
            <a:r>
              <a:rPr lang="id-ID" sz="4800" b="1" smtClean="0"/>
              <a:t/>
            </a:r>
            <a:br>
              <a:rPr lang="id-ID" sz="4800" b="1" smtClean="0"/>
            </a:br>
            <a:r>
              <a:rPr lang="id-ID" sz="4800" b="1" smtClean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singkatan dari </a:t>
            </a:r>
            <a:r>
              <a:rPr lang="id-ID" i="1" dirty="0" smtClean="0"/>
              <a:t>HyperText Markup Language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i-FI" dirty="0" smtClean="0"/>
              <a:t>menentukan tampilan suatu teks dan tingkat kepentingan dari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</a:t>
            </a:r>
            <a:r>
              <a:rPr lang="pl-PL" dirty="0" smtClean="0"/>
              <a:t>teks tersebut dalam suatu dokumen.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Software yang diperlukan: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b="1" i="1" dirty="0" smtClean="0"/>
              <a:t>Text editor sederhana.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Contoh: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Windows: Notepad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Linux: Bluefish, gEdit, mcedit, pico, dll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b="1" i="1" dirty="0" smtClean="0"/>
              <a:t>Web browser untuk menampilkan dokumen web yang dibuat.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Contoh: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Windows: Internet Explorer, Opera dan Firefox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Linux: Firefox dan Conqueror.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32487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0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>Istilah-istilah dalam HTML :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b="1" i="1" dirty="0" smtClean="0"/>
              <a:t>Tag - Digunakan untuk menentukan tingkah laku web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i="1" dirty="0" smtClean="0"/>
              <a:t>	browser. Dinyatakan dengan tanda lebih kecil “&lt;“ (tag awal)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</a:t>
            </a:r>
            <a:r>
              <a:rPr lang="sv-SE" dirty="0" smtClean="0"/>
              <a:t>dan tanda lebih besar “&gt;” (</a:t>
            </a:r>
            <a:r>
              <a:rPr lang="sv-SE" i="1" dirty="0" smtClean="0"/>
              <a:t>tag akhir).Tag kontainer: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&lt;namatag&gt; ..... &lt;/namatag&gt;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b="1" i="1" dirty="0" smtClean="0"/>
              <a:t>Element – Jenis-jenis dari tag. </a:t>
            </a:r>
            <a:r>
              <a:rPr lang="id-ID" dirty="0" smtClean="0"/>
              <a:t>HTML mempunyai banyak elemen untuk berbagai keperluan dengan berbagai bentuk penggunaan.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b="1" i="1" dirty="0" smtClean="0"/>
              <a:t>Attribute - Digunakan untuk memodifikasi nilai dari elemen HTML</a:t>
            </a:r>
            <a:r>
              <a:rPr lang="id-ID" dirty="0" smtClean="0"/>
              <a:t>. Suatu elemen biasanya akan mempunyai banyak atribut.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30697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57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>Tag Utama dalam struktur dokumen HTML:</a:t>
            </a:r>
            <a:br>
              <a:rPr lang="id-ID" b="1" dirty="0" smtClean="0"/>
            </a:b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8472488" cy="4389437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&lt;!– untuk menyatakan suatu dokumen HTML --&gt;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&lt;!-- memberikan informasi mengenai dokumen HTML 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&lt;!-- tag-tag: TITLE, BASE, ISINDEX, LINK, SCRIPT,  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         STYLE dan META 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&lt;!-- menyimpan informasi atau data yang akan ditampilkan dalam dokumen HTML 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19180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>Contoh HTML sederhana :</a:t>
            </a:r>
            <a:endParaRPr lang="id-ID" b="1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id-ID" smtClean="0"/>
              <a:t>&lt;html&gt;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	&lt;head&gt;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	&lt;title&gt; HTML &lt;/title&gt;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	&lt;/head&gt;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	&lt;body&gt;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	   Kami sedang mulai belajar HTML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	&lt;/body&gt;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smtClean="0"/>
              <a:t>&lt;/html&gt;</a:t>
            </a:r>
          </a:p>
          <a:p>
            <a:pPr eaLnBrk="1" hangingPunct="1"/>
            <a:endParaRPr lang="id-ID" smtClean="0"/>
          </a:p>
        </p:txBody>
      </p:sp>
    </p:spTree>
    <p:extLst>
      <p:ext uri="{BB962C8B-B14F-4D97-AF65-F5344CB8AC3E}">
        <p14:creationId xmlns:p14="http://schemas.microsoft.com/office/powerpoint/2010/main" val="1960405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6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dirty="0" smtClean="0"/>
              <a:t/>
            </a:r>
            <a:br>
              <a:rPr lang="id-ID" b="1" dirty="0" smtClean="0"/>
            </a:br>
            <a:r>
              <a:rPr lang="id-ID" b="1" dirty="0" smtClean="0"/>
              <a:t>Penggunaan Komentar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Format: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&lt;! -- 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Fungsi: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Memberi nama aplikasi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sv-SE" dirty="0" smtClean="0"/>
              <a:t>Mendeskripsikan tujuan pengkodean tertentu di dalam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file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Memberi nama pengarang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Memberi tanggal pembuatan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Memberi nomer versi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Memberi informasi hak cipta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5888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b="1" i="1" dirty="0" smtClean="0"/>
              <a:t>Tag Heading</a:t>
            </a:r>
            <a:endParaRPr lang="id-ID" b="1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id-ID" smtClean="0"/>
              <a:t>Untuk judul atau sub judul dalam dokumen HTML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</a:t>
            </a:r>
            <a:r>
              <a:rPr lang="en-US" b="1" smtClean="0"/>
              <a:t>&lt;h1 [align=”left”|”center”|”right”]&gt; . . . &lt;/h1&gt;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</a:t>
            </a:r>
            <a:r>
              <a:rPr lang="en-US" b="1" smtClean="0"/>
              <a:t>&lt;h2 [align=”left”|”center”|”right”]&gt; . . . &lt;/h2&gt;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..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</a:t>
            </a:r>
            <a:r>
              <a:rPr lang="en-US" b="1" smtClean="0"/>
              <a:t>&lt;h6 [align=”left”|”center”|”right”]&gt; . . . &lt;/h6&gt;</a:t>
            </a:r>
          </a:p>
          <a:p>
            <a:pPr eaLnBrk="1" hangingPunct="1"/>
            <a:endParaRPr lang="id-ID" smtClean="0"/>
          </a:p>
        </p:txBody>
      </p:sp>
    </p:spTree>
    <p:extLst>
      <p:ext uri="{BB962C8B-B14F-4D97-AF65-F5344CB8AC3E}">
        <p14:creationId xmlns:p14="http://schemas.microsoft.com/office/powerpoint/2010/main" val="247609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54045"/>
            <a:ext cx="6777317" cy="3508977"/>
          </a:xfrm>
        </p:spPr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&lt;title&gt; Heading 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en-US" b="1" dirty="0" smtClean="0"/>
              <a:t>&lt;h1 align="center"&gt;Heading 1: HTML&lt;/h1&gt;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en-US" b="1" dirty="0" smtClean="0"/>
              <a:t>&lt;h2 align="center"&gt;Heading 2: HTML&lt;/h2&gt;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en-US" b="1" dirty="0" smtClean="0"/>
              <a:t>&lt;h3 align="center"&gt;Heading 3: HTML&lt;/h3&gt;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en-US" b="1" dirty="0" smtClean="0"/>
              <a:t>&lt;h4 align="center"&gt;Heading 4: HTML&lt;/h4&gt;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en-US" b="1" dirty="0" smtClean="0"/>
              <a:t>&lt;h5 align="center"&gt;Heading 5: HTML&lt;/h5&gt;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en-US" b="1" dirty="0" smtClean="0"/>
              <a:t>&lt;h6 align="center"&gt;Heading 6: HTML&lt;/h6&gt;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  <p:pic>
        <p:nvPicPr>
          <p:cNvPr id="23556" name="Picture 3" descr="Tampila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857250"/>
            <a:ext cx="48768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905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b="1" i="1" dirty="0" smtClean="0"/>
              <a:t>Tag Paragraf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5072063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nb-NO" dirty="0" smtClean="0"/>
              <a:t>Paragraf yang dapat diatur perataannya (kiri, tengah,</a:t>
            </a:r>
            <a:r>
              <a:rPr lang="id-ID" dirty="0" smtClean="0"/>
              <a:t> kanan):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</a:t>
            </a:r>
            <a:r>
              <a:rPr lang="en-US" b="1" dirty="0" smtClean="0"/>
              <a:t>&lt;p [align=”left”|”center”|”right”]&gt; . . . 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&lt;title&gt; Paragraf 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</a:t>
            </a:r>
            <a:r>
              <a:rPr lang="pt-BR" dirty="0" smtClean="0"/>
              <a:t>&lt;h2 align="center"&gt;Materi HTML&lt;/h2&gt;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&lt;p align="right"&gt;Kami sedang mulai belajar HTML</a:t>
            </a:r>
            <a:r>
              <a:rPr lang="id-ID" dirty="0" smtClean="0"/>
              <a:t> </a:t>
            </a:r>
            <a:r>
              <a:rPr lang="id-ID" b="1" dirty="0" smtClean="0"/>
              <a:t>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</a:t>
            </a:r>
            <a:r>
              <a:rPr lang="en-US" b="1" dirty="0" smtClean="0"/>
              <a:t>&lt;p align="left"&gt;</a:t>
            </a:r>
            <a:r>
              <a:rPr lang="en-US" b="1" dirty="0" err="1" smtClean="0"/>
              <a:t>Saat</a:t>
            </a:r>
            <a:r>
              <a:rPr lang="en-US" b="1" dirty="0" smtClean="0"/>
              <a:t> </a:t>
            </a:r>
            <a:r>
              <a:rPr lang="en-US" b="1" dirty="0" err="1" smtClean="0"/>
              <a:t>ini</a:t>
            </a:r>
            <a:r>
              <a:rPr lang="en-US" b="1" dirty="0" smtClean="0"/>
              <a:t> </a:t>
            </a:r>
            <a:r>
              <a:rPr lang="en-US" b="1" dirty="0" err="1" smtClean="0"/>
              <a:t>membahas</a:t>
            </a:r>
            <a:r>
              <a:rPr lang="id-ID" b="1" dirty="0" smtClean="0"/>
              <a:t> materi Dasar-dasar HTML 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  <p:pic>
        <p:nvPicPr>
          <p:cNvPr id="24580" name="Picture 3" descr="materi HTM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2286000"/>
            <a:ext cx="48625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04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b="1" i="1" dirty="0" smtClean="0"/>
              <a:t>Tag Memformat Dokumen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  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&lt;title&gt; Format Dokumen 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&lt;p&gt;Contoh </a:t>
            </a:r>
            <a:r>
              <a:rPr lang="id-ID" b="1" dirty="0" smtClean="0"/>
              <a:t>&lt;b&gt;Teks Bold&lt;/b&gt;&lt;/p&gt;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&lt;p&gt;Contoh </a:t>
            </a:r>
            <a:r>
              <a:rPr lang="id-ID" b="1" dirty="0" smtClean="0"/>
              <a:t>&lt;i&gt;Teks Italic&lt;/i&gt;&lt;/p&gt;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</a:t>
            </a:r>
            <a:r>
              <a:rPr lang="en-US" dirty="0" smtClean="0"/>
              <a:t>&lt;p&gt;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b="1" dirty="0" smtClean="0"/>
              <a:t>&lt;sup&gt;</a:t>
            </a:r>
            <a:r>
              <a:rPr lang="en-US" b="1" dirty="0" err="1" smtClean="0"/>
              <a:t>Teks</a:t>
            </a:r>
            <a:r>
              <a:rPr lang="en-US" b="1" dirty="0" smtClean="0"/>
              <a:t> superscripted&lt;/sup&gt;&lt;/p&gt;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</a:t>
            </a:r>
            <a:r>
              <a:rPr lang="en-US" dirty="0" smtClean="0"/>
              <a:t>&lt;p&gt;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b="1" dirty="0" smtClean="0"/>
              <a:t>&lt;sub&gt;</a:t>
            </a:r>
            <a:r>
              <a:rPr lang="en-US" b="1" dirty="0" err="1" smtClean="0"/>
              <a:t>Teks</a:t>
            </a:r>
            <a:r>
              <a:rPr lang="en-US" b="1" dirty="0" smtClean="0"/>
              <a:t> subscripted&lt;/sub&gt;&lt;/p&gt;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</a:t>
            </a:r>
            <a:r>
              <a:rPr lang="en-US" dirty="0" smtClean="0"/>
              <a:t>&lt;p&gt;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b="1" dirty="0" smtClean="0"/>
              <a:t>&lt;del&gt;</a:t>
            </a:r>
            <a:r>
              <a:rPr lang="en-US" b="1" dirty="0" err="1" smtClean="0"/>
              <a:t>Teks</a:t>
            </a:r>
            <a:r>
              <a:rPr lang="en-US" b="1" dirty="0" smtClean="0"/>
              <a:t> </a:t>
            </a:r>
            <a:r>
              <a:rPr lang="en-US" b="1" dirty="0" err="1" smtClean="0"/>
              <a:t>struckthrough</a:t>
            </a:r>
            <a:r>
              <a:rPr lang="en-US" b="1" dirty="0" smtClean="0"/>
              <a:t>&lt;/del&gt;&lt;/p&gt;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</a:t>
            </a:r>
            <a:r>
              <a:rPr lang="fr-FR" dirty="0" smtClean="0"/>
              <a:t>&lt;p&gt;</a:t>
            </a:r>
            <a:r>
              <a:rPr lang="fr-FR" dirty="0" err="1" smtClean="0"/>
              <a:t>Contoh</a:t>
            </a:r>
            <a:r>
              <a:rPr lang="fr-FR" dirty="0" smtClean="0"/>
              <a:t> </a:t>
            </a:r>
            <a:r>
              <a:rPr lang="fr-FR" b="1" dirty="0" smtClean="0"/>
              <a:t>&lt;code&gt;Teks Computer Code&lt;/code&gt;&lt;/p&gt;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189"/>
          <a:stretch>
            <a:fillRect/>
          </a:stretch>
        </p:blipFill>
        <p:spPr bwMode="auto">
          <a:xfrm>
            <a:off x="6000750" y="1928813"/>
            <a:ext cx="2725738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697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7188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b="1" i="1" dirty="0" smtClean="0"/>
              <a:t>Tag Pre-format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88"/>
            <a:ext cx="8401050" cy="4824412"/>
          </a:xfrm>
        </p:spPr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i-FI" dirty="0" smtClean="0"/>
              <a:t>Untuk menampilkan teks sama seperti yang</a:t>
            </a:r>
            <a:r>
              <a:rPr lang="id-ID" dirty="0" smtClean="0"/>
              <a:t> diketikkan dalam dokumen HTML: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&lt;pre&gt; . . . &lt;/pre&gt;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&lt;title&gt;Pre-Format&lt;/title&gt;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   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 &lt;pre&gt;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 Saya sedang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 Bel ajar HTML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 Untuk mem buat aplikasi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 berbasis web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&lt;/pre&gt;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     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 </a:t>
            </a:r>
            <a:endParaRPr lang="id-ID" dirty="0"/>
          </a:p>
        </p:txBody>
      </p:sp>
      <p:pic>
        <p:nvPicPr>
          <p:cNvPr id="26628" name="Picture 3" descr="preformat dokume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3" y="2157413"/>
            <a:ext cx="5000625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31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b="1" i="1" dirty="0" smtClean="0"/>
              <a:t>Tag Break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Untuk menulis teks pada baris berikutnya: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&lt;br&gt;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&lt;title&gt;Mengganti Baris&lt;/title&gt;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Muhammad Yusuf</a:t>
            </a:r>
            <a:r>
              <a:rPr lang="id-ID" b="1" dirty="0" smtClean="0"/>
              <a:t>&lt;br/&gt;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Jurusan Teknik Informatika</a:t>
            </a:r>
            <a:r>
              <a:rPr lang="id-ID" b="1" dirty="0" smtClean="0"/>
              <a:t>&lt;br/&gt;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Fakultas Teknik</a:t>
            </a:r>
            <a:r>
              <a:rPr lang="id-ID" b="1" dirty="0" smtClean="0"/>
              <a:t>&lt;br/&gt;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Universitas Trunojoyo </a:t>
            </a:r>
            <a:r>
              <a:rPr lang="id-ID" b="1" dirty="0" smtClean="0"/>
              <a:t>&lt;br/&gt;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604235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Tag Garis Pemisah Horisontal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i-FI" dirty="0" smtClean="0"/>
              <a:t>Garis horisontal untuk memisahkan teks</a:t>
            </a:r>
            <a:r>
              <a:rPr lang="id-ID" dirty="0" smtClean="0"/>
              <a:t> dengan teks lain.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</a:t>
            </a:r>
            <a:r>
              <a:rPr lang="en-US" sz="2000" b="1" dirty="0" smtClean="0"/>
              <a:t>&lt;hr [align=“left”|”center”|”right”] [size=“n”] [width=“</a:t>
            </a:r>
            <a:r>
              <a:rPr lang="en-US" sz="2000" b="1" dirty="0" err="1" smtClean="0"/>
              <a:t>nnn</a:t>
            </a:r>
            <a:r>
              <a:rPr lang="en-US" sz="2000" b="1" dirty="0" smtClean="0"/>
              <a:t>”]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b="1" dirty="0" smtClean="0"/>
              <a:t>	    [noshade]&gt; &lt;/hr&gt;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&lt;head&gt;	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	&lt;title&gt;Membuat Garis Horisontal&lt;/title&gt;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	Berikut ini penggunaan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	satu garis horisontal: &lt;hr/&gt;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	dan penggunaan dua garis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	horisontal: &lt;hr/&gt; &lt;hr 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sz="2000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  <p:pic>
        <p:nvPicPr>
          <p:cNvPr id="28676" name="Picture 3" descr="garis horisontal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2714625"/>
            <a:ext cx="3614737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4989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357188"/>
            <a:ext cx="8229600" cy="1143000"/>
          </a:xfrm>
        </p:spPr>
        <p:txBody>
          <a:bodyPr/>
          <a:lstStyle/>
          <a:p>
            <a:pPr algn="r" eaLnBrk="1" hangingPunct="1"/>
            <a:r>
              <a:rPr lang="id-ID" b="1" i="1" smtClean="0"/>
              <a:t>Tag Font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5072063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FR" sz="2000" dirty="0" err="1" smtClean="0"/>
              <a:t>Ukuran</a:t>
            </a:r>
            <a:r>
              <a:rPr lang="fr-FR" sz="2000" dirty="0" smtClean="0"/>
              <a:t> font: </a:t>
            </a:r>
            <a:r>
              <a:rPr lang="fr-FR" sz="2000" b="1" dirty="0" smtClean="0"/>
              <a:t>&lt;font size=“n”&gt; . . . &lt;/font&gt;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fr-FR" sz="2000" dirty="0" err="1" smtClean="0"/>
              <a:t>Jenis</a:t>
            </a:r>
            <a:r>
              <a:rPr lang="fr-FR" sz="2000" dirty="0" smtClean="0"/>
              <a:t> font: </a:t>
            </a:r>
            <a:r>
              <a:rPr lang="fr-FR" sz="2000" b="1" dirty="0" smtClean="0"/>
              <a:t>&lt;font size=“n” face=“</a:t>
            </a:r>
            <a:r>
              <a:rPr lang="fr-FR" sz="2000" b="1" dirty="0" err="1" smtClean="0"/>
              <a:t>jenis_font</a:t>
            </a:r>
            <a:r>
              <a:rPr lang="fr-FR" sz="2000" b="1" dirty="0" smtClean="0"/>
              <a:t>”&gt; . . . &lt;/font&gt;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sz="2000" dirty="0" smtClean="0"/>
              <a:t>Warna font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b="1" dirty="0" smtClean="0"/>
              <a:t>	</a:t>
            </a:r>
            <a:r>
              <a:rPr lang="fr-FR" sz="2000" b="1" dirty="0" smtClean="0"/>
              <a:t>&lt;font size=“n” face=“</a:t>
            </a:r>
            <a:r>
              <a:rPr lang="fr-FR" sz="2000" b="1" dirty="0" err="1" smtClean="0"/>
              <a:t>jenis_font</a:t>
            </a:r>
            <a:r>
              <a:rPr lang="fr-FR" sz="2000" b="1" dirty="0" smtClean="0"/>
              <a:t>” </a:t>
            </a:r>
            <a:r>
              <a:rPr lang="fr-FR" sz="2000" b="1" dirty="0" err="1" smtClean="0"/>
              <a:t>color</a:t>
            </a:r>
            <a:r>
              <a:rPr lang="fr-FR" sz="2000" b="1" dirty="0" smtClean="0"/>
              <a:t>=“</a:t>
            </a:r>
            <a:r>
              <a:rPr lang="fr-FR" sz="2000" b="1" dirty="0" err="1" smtClean="0"/>
              <a:t>warna</a:t>
            </a:r>
            <a:r>
              <a:rPr lang="fr-FR" sz="2000" b="1" dirty="0" smtClean="0"/>
              <a:t>”&gt; . . . &lt;/font&gt;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sz="2000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	&lt;title&gt;Memformat Font&lt;/title&gt;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&lt;font size=5 color="#FF00FF"&gt;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Teks berwarna hexcolor #FF00FF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&lt;/font&gt;&lt;br/&gt;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</a:t>
            </a:r>
            <a:r>
              <a:rPr lang="en-US" sz="2000" dirty="0" smtClean="0"/>
              <a:t>&lt;font color="red"&gt;</a:t>
            </a:r>
            <a:r>
              <a:rPr lang="en-US" sz="2000" dirty="0" err="1" smtClean="0"/>
              <a:t>Teks</a:t>
            </a:r>
            <a:r>
              <a:rPr lang="en-US" sz="2000" dirty="0" smtClean="0"/>
              <a:t> </a:t>
            </a:r>
            <a:r>
              <a:rPr lang="en-US" sz="2000" dirty="0" err="1" smtClean="0"/>
              <a:t>berwarna</a:t>
            </a:r>
            <a:endParaRPr lang="en-US" sz="2000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merah&lt;/font&gt;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000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sz="2000" dirty="0"/>
          </a:p>
        </p:txBody>
      </p:sp>
      <p:pic>
        <p:nvPicPr>
          <p:cNvPr id="29700" name="Picture 3" descr="memformat font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2833688"/>
            <a:ext cx="4529138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280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Tag Hypertext Link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895850"/>
          </a:xfrm>
        </p:spPr>
        <p:txBody>
          <a:bodyPr>
            <a:normAutofit fontScale="92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Format: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&lt;a href=”address”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 Link ke dokumen lain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&lt;a href=”nama_dokumen”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Link ke bagian tertentu dalam dokumen yang sama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&lt;a href=”#target”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&lt;a href=”target”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Link ke alamat URL atau WebSite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&lt;a href=”alamat_URL”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Link ke alamat Email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&lt;a href=”mailto:alamat_email”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 Link File yang akan didownload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&lt;a href=”nama_file” &gt; . . . &lt;/a&gt;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55337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Tag Hypertext Link (2)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967287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&lt;title&gt;Membuat link&lt;/title&gt;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&lt;p&gt;Silahkan download &lt;i&gt;handout&lt;/i&gt;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perkuliahan di </a:t>
            </a:r>
            <a:r>
              <a:rPr lang="id-ID" b="1" dirty="0" smtClean="0"/>
              <a:t>&lt;A href="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http://zheira83.wordpress.com"&gt;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blog &lt;/A&gt;&lt;/p&gt;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224437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Tag Memuat Gambar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110162"/>
          </a:xfrm>
        </p:spPr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Memuat gambar ke dalam halaman </a:t>
            </a:r>
            <a:r>
              <a:rPr lang="id-ID" i="1" dirty="0" smtClean="0"/>
              <a:t>Web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&lt;img src=”URL”|”name” height=”n” width=”n” </a:t>
            </a:r>
            <a:r>
              <a:rPr lang="en-US" b="1" dirty="0" smtClean="0"/>
              <a:t>align=”top”|”center”|”bottom”] /&gt;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i="1" dirty="0" smtClean="0"/>
              <a:t>Relative Path: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id-ID" dirty="0" smtClean="0"/>
              <a:t>File gambar ada dalam direktori yg sama: </a:t>
            </a:r>
            <a:r>
              <a:rPr lang="id-ID" b="1" dirty="0" smtClean="0"/>
              <a:t>./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sv-SE" dirty="0" smtClean="0"/>
              <a:t>File gambar ada dalam direktori sebelumnya: </a:t>
            </a:r>
            <a:r>
              <a:rPr lang="sv-SE" b="1" dirty="0" smtClean="0"/>
              <a:t>../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 &lt;title&gt; Insert Gambar&lt;/title&gt;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  &lt;img src="./penguins.jpg"&gt;&lt;/br&gt;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      </a:t>
            </a:r>
            <a:r>
              <a:rPr lang="en-US" dirty="0" smtClean="0"/>
              <a:t>&lt;b&gt; </a:t>
            </a:r>
            <a:r>
              <a:rPr lang="id-ID" dirty="0" smtClean="0"/>
              <a:t>Penguins</a:t>
            </a:r>
            <a:r>
              <a:rPr lang="en-US" dirty="0" smtClean="0"/>
              <a:t>&lt;/b&gt;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56707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Warna Background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357313"/>
            <a:ext cx="8229600" cy="51435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Menggunakan warna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   &lt;body bgcolor=#nnnnnn&gt; . . . 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&lt;title&gt; Penggunaan Latar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Belakang Warna 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&lt;body bgcolor="pink"&gt;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Kami sedang mulai belajar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	HTML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2214563"/>
            <a:ext cx="3819525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1669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Warna Background (2)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>
            <a:normAutofit fontScale="7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Menggunakan gambar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sz="2400" b="1" dirty="0" smtClean="0"/>
              <a:t>     &lt;body background=“nama_file_gambar”&gt; . . . 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id-ID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&lt;title&gt; Penggunaan Latar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Belakang Gambar 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&lt;body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background="./Desert.jpg"&gt;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&lt;p&gt;&lt;h2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align="center"&gt;Kami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sedang mulai belajar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HTML&lt;/h2&gt;&lt;/p&gt;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757507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i="1" dirty="0" smtClean="0"/>
              <a:t/>
            </a:r>
            <a:br>
              <a:rPr lang="id-ID" i="1" dirty="0" smtClean="0"/>
            </a:br>
            <a:r>
              <a:rPr lang="id-ID" b="1" i="1" dirty="0" smtClean="0"/>
              <a:t>Tag List</a:t>
            </a:r>
            <a:endParaRPr lang="id-ID" b="1" dirty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967287"/>
          </a:xfrm>
        </p:spPr>
        <p:txBody>
          <a:bodyPr>
            <a:normAutofit/>
          </a:bodyPr>
          <a:lstStyle/>
          <a:p>
            <a:pPr eaLnBrk="1" hangingPunct="1"/>
            <a:r>
              <a:rPr lang="id-ID" smtClean="0"/>
              <a:t>&lt;ul&gt; - unordered list (daftar tdk bernomor); </a:t>
            </a:r>
            <a:r>
              <a:rPr lang="id-ID" i="1" smtClean="0"/>
              <a:t>bullet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</a:t>
            </a:r>
            <a:r>
              <a:rPr lang="it-IT" b="1" smtClean="0"/>
              <a:t>&lt;ul [type=“disc”|”square”|”circle”] &gt; . . . &lt;/ul&gt;</a:t>
            </a:r>
          </a:p>
          <a:p>
            <a:pPr eaLnBrk="1" hangingPunct="1"/>
            <a:r>
              <a:rPr lang="id-ID" smtClean="0"/>
              <a:t>&lt;ol&gt; - ordered list; nomor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&lt;ol [type=“1”|”a”|”A”|”I”|”i"] [start=“n”] &gt; . . . &lt;/ol&gt;</a:t>
            </a:r>
          </a:p>
          <a:p>
            <a:pPr eaLnBrk="1" hangingPunct="1"/>
            <a:r>
              <a:rPr lang="id-ID" smtClean="0"/>
              <a:t>&lt;dl&gt; - definition list; dictionary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&lt;dl&gt; . . . &lt;/dl&gt;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&lt;dt&gt; . . . &lt;/dt&gt;</a:t>
            </a:r>
          </a:p>
          <a:p>
            <a:pPr eaLnBrk="1" hangingPunct="1">
              <a:buFont typeface="Wingdings 2" pitchFamily="18" charset="2"/>
              <a:buNone/>
            </a:pPr>
            <a:r>
              <a:rPr lang="id-ID" b="1" smtClean="0"/>
              <a:t>	&lt;dd&gt; . . . [&lt;/dd&gt;]</a:t>
            </a:r>
          </a:p>
          <a:p>
            <a:pPr eaLnBrk="1" hangingPunct="1"/>
            <a:endParaRPr lang="id-ID" smtClean="0"/>
          </a:p>
        </p:txBody>
      </p:sp>
    </p:spTree>
    <p:extLst>
      <p:ext uri="{BB962C8B-B14F-4D97-AF65-F5344CB8AC3E}">
        <p14:creationId xmlns:p14="http://schemas.microsoft.com/office/powerpoint/2010/main" val="16402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3"/>
            <a:ext cx="8229600" cy="1143000"/>
          </a:xfrm>
        </p:spPr>
        <p:txBody>
          <a:bodyPr>
            <a:normAutofit fontScale="90000"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id-ID" b="1" i="1" dirty="0" smtClean="0"/>
              <a:t/>
            </a:r>
            <a:br>
              <a:rPr lang="id-ID" b="1" i="1" dirty="0" smtClean="0"/>
            </a:br>
            <a:r>
              <a:rPr lang="id-ID" b="1" i="1" dirty="0" smtClean="0"/>
              <a:t>Tag List (2)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967287"/>
          </a:xfrm>
        </p:spPr>
        <p:txBody>
          <a:bodyPr>
            <a:normAutofit fontScale="70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Script: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&lt;title&gt;Penggunaan List&lt;/title&gt;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&lt;/head&gt;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&lt;h4&gt;Istilah-istilah dalam HTML:&lt;/h4&gt;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    &lt;ol&gt;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&lt;li&gt;&lt;i&gt;Tag&lt;/i&gt;&lt;/li&gt;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&lt;li&gt;&lt;i&gt;Element&lt;/i&gt;&lt;/li&gt;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&lt;li&gt;&lt;i&gt;Attribute&lt;/i&gt;&lt;/li&gt;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  &lt;/ol&gt;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&lt;h4&gt;Contoh &lt;i&gt;tag&lt;/i&gt;:&lt;/h4&gt;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 &lt;ul type="square"&gt;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</a:t>
            </a:r>
            <a:r>
              <a:rPr lang="it-IT" b="1" dirty="0" smtClean="0"/>
              <a:t>&lt;li&gt;&lt;i&gt;Tag heading&lt;/i&gt;&lt;/li&gt;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	&lt;li&gt;&lt;i&gt;Tag list&lt;/i&gt;&lt;/li&gt;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b="1" dirty="0" smtClean="0"/>
              <a:t>	     &lt;/ul&gt;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	&lt;/body&gt;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id-ID" dirty="0" smtClean="0"/>
              <a:t>&lt;/html&gt;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id-ID" dirty="0"/>
          </a:p>
        </p:txBody>
      </p:sp>
      <p:pic>
        <p:nvPicPr>
          <p:cNvPr id="3686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5" y="1714500"/>
            <a:ext cx="4762500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4154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</TotalTime>
  <Words>278</Words>
  <Application>Microsoft Office PowerPoint</Application>
  <PresentationFormat>On-screen Show (4:3)</PresentationFormat>
  <Paragraphs>309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Austin</vt:lpstr>
      <vt:lpstr>HTML  HyperText Markup Language</vt:lpstr>
      <vt:lpstr>TAG TAG DASAR HTML</vt:lpstr>
      <vt:lpstr>TAG TAG DASAR HTML (cont.)</vt:lpstr>
      <vt:lpstr>TAG TAG DASAR HTML (cont.)</vt:lpstr>
      <vt:lpstr>      HTML</vt:lpstr>
      <vt:lpstr>   Istilah-istilah dalam HTML :</vt:lpstr>
      <vt:lpstr>     Tag Utama dalam struktur dokumen HTML: </vt:lpstr>
      <vt:lpstr>   Contoh HTML sederhana :</vt:lpstr>
      <vt:lpstr> Penggunaan Komentar</vt:lpstr>
      <vt:lpstr> Tag Heading</vt:lpstr>
      <vt:lpstr>PowerPoint Presentation</vt:lpstr>
      <vt:lpstr> Tag Paragraf</vt:lpstr>
      <vt:lpstr>  Tag Memformat Dokumen</vt:lpstr>
      <vt:lpstr> Tag Pre-format</vt:lpstr>
      <vt:lpstr> Tag Break</vt:lpstr>
      <vt:lpstr> Tag Garis Pemisah Horisontal</vt:lpstr>
      <vt:lpstr>Tag Font</vt:lpstr>
      <vt:lpstr> Tag Hypertext Link</vt:lpstr>
      <vt:lpstr> Tag Hypertext Link (2)</vt:lpstr>
      <vt:lpstr> Tag Memuat Gambar</vt:lpstr>
      <vt:lpstr> Warna Background</vt:lpstr>
      <vt:lpstr> Warna Background (2)</vt:lpstr>
      <vt:lpstr> Tag List</vt:lpstr>
      <vt:lpstr> Tag List (2)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 HyperText Markup Language</dc:title>
  <dc:creator>chyquitha danuputri</dc:creator>
  <cp:lastModifiedBy>chyquitha danuputri</cp:lastModifiedBy>
  <cp:revision>3</cp:revision>
  <dcterms:created xsi:type="dcterms:W3CDTF">2018-09-15T06:13:50Z</dcterms:created>
  <dcterms:modified xsi:type="dcterms:W3CDTF">2025-01-07T07:18:16Z</dcterms:modified>
</cp:coreProperties>
</file>